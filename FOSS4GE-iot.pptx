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notesSlides/notesSlide1.xml" ContentType="application/vnd.openxmlformats-officedocument.presentationml.notesSlide+xml"/>
  <Override PartName="/ppt/theme/themeOverride3.xml" ContentType="application/vnd.openxmlformats-officedocument.themeOverride+xml"/>
  <Override PartName="/ppt/notesSlides/notesSlide2.xml" ContentType="application/vnd.openxmlformats-officedocument.presentationml.notesSl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7"/>
  </p:notesMasterIdLst>
  <p:sldIdLst>
    <p:sldId id="256" r:id="rId2"/>
    <p:sldId id="315" r:id="rId3"/>
    <p:sldId id="3883" r:id="rId4"/>
    <p:sldId id="4126" r:id="rId5"/>
    <p:sldId id="4076" r:id="rId6"/>
    <p:sldId id="4081" r:id="rId7"/>
    <p:sldId id="314" r:id="rId8"/>
    <p:sldId id="4094" r:id="rId9"/>
    <p:sldId id="4078" r:id="rId10"/>
    <p:sldId id="4130" r:id="rId11"/>
    <p:sldId id="4097" r:id="rId12"/>
    <p:sldId id="4085" r:id="rId13"/>
    <p:sldId id="4082" r:id="rId14"/>
    <p:sldId id="4083" r:id="rId15"/>
    <p:sldId id="4116" r:id="rId16"/>
    <p:sldId id="4125" r:id="rId17"/>
    <p:sldId id="4084" r:id="rId18"/>
    <p:sldId id="4079" r:id="rId19"/>
    <p:sldId id="4086" r:id="rId20"/>
    <p:sldId id="4098" r:id="rId21"/>
    <p:sldId id="4108" r:id="rId22"/>
    <p:sldId id="4109" r:id="rId23"/>
    <p:sldId id="4101" r:id="rId24"/>
    <p:sldId id="4103" r:id="rId25"/>
    <p:sldId id="4104" r:id="rId26"/>
    <p:sldId id="4091" r:id="rId27"/>
    <p:sldId id="4092" r:id="rId28"/>
    <p:sldId id="4093" r:id="rId29"/>
    <p:sldId id="4106" r:id="rId30"/>
    <p:sldId id="4114" r:id="rId31"/>
    <p:sldId id="4115" r:id="rId32"/>
    <p:sldId id="4120" r:id="rId33"/>
    <p:sldId id="4118" r:id="rId34"/>
    <p:sldId id="4099" r:id="rId35"/>
    <p:sldId id="4087" r:id="rId36"/>
    <p:sldId id="4112" r:id="rId37"/>
    <p:sldId id="4113" r:id="rId38"/>
    <p:sldId id="4119" r:id="rId39"/>
    <p:sldId id="4121" r:id="rId40"/>
    <p:sldId id="4123" r:id="rId41"/>
    <p:sldId id="4124" r:id="rId42"/>
    <p:sldId id="4122" r:id="rId43"/>
    <p:sldId id="4117" r:id="rId44"/>
    <p:sldId id="4128" r:id="rId45"/>
    <p:sldId id="4129" r:id="rId46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39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435197-0C49-4BDD-9399-6D4C05DE76AC}" type="datetimeFigureOut">
              <a:rPr lang="nl-NL" smtClean="0"/>
              <a:t>1-7-2026</a:t>
            </a:fld>
            <a:endParaRPr lang="nl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1CEBBA-FFE4-4482-946F-6C71460E22DA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93917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Volgende keren andere docenten, ik heb de installatie etc. met ze afgestemd</a:t>
            </a:r>
          </a:p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896498-E204-41E8-A6BA-9C79F8871B59}" type="slidenum">
              <a:rPr lang="nl-NL" smtClean="0"/>
              <a:t>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358840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Eerst alles los van elkaar, dan samenvoegen. </a:t>
            </a:r>
          </a:p>
          <a:p>
            <a:r>
              <a:rPr lang="nl-NL" dirty="0"/>
              <a:t>Eerst werken aan de basis voor de integratie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896498-E204-41E8-A6BA-9C79F8871B59}" type="slidenum">
              <a:rPr lang="nl-NL" smtClean="0"/>
              <a:t>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643752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NL" dirty="0"/>
              <a:t>The ESP32-C3 is a 32-bit single-core RISC-V SoC with Wi-Fi and Bluetooth Low Energy. </a:t>
            </a:r>
            <a:r>
              <a:rPr lang="en-NL" dirty="0" err="1"/>
              <a:t>Seeed’s</a:t>
            </a:r>
            <a:r>
              <a:rPr lang="en-NL" dirty="0"/>
              <a:t> XIAO ESP32C3 uses that chip, runs up to 160 MHz, and is a very small IoT development board.</a:t>
            </a:r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1CEBBA-FFE4-4482-946F-6C71460E22DA}" type="slidenum">
              <a:rPr lang="nl-NL" smtClean="0"/>
              <a:t>20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470200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38EBCC36-31DA-4D52-A764-80713D69E54F}" type="datetimeFigureOut">
              <a:rPr lang="nl-NL" smtClean="0"/>
              <a:t>1-7-2026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5C09B582-9E7C-4FDB-8AEC-A58BAF8F3058}" type="slidenum">
              <a:rPr lang="nl-NL" smtClean="0"/>
              <a:t>‹#›</a:t>
            </a:fld>
            <a:endParaRPr lang="nl-NL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68946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BCC36-31DA-4D52-A764-80713D69E54F}" type="datetimeFigureOut">
              <a:rPr lang="nl-NL" smtClean="0"/>
              <a:t>1-7-2026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9B582-9E7C-4FDB-8AEC-A58BAF8F3058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275569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BCC36-31DA-4D52-A764-80713D69E54F}" type="datetimeFigureOut">
              <a:rPr lang="nl-NL" smtClean="0"/>
              <a:t>1-7-2026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9B582-9E7C-4FDB-8AEC-A58BAF8F3058}" type="slidenum">
              <a:rPr lang="nl-NL" smtClean="0"/>
              <a:t>‹#›</a:t>
            </a:fld>
            <a:endParaRPr lang="nl-NL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81400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BCC36-31DA-4D52-A764-80713D69E54F}" type="datetimeFigureOut">
              <a:rPr lang="nl-NL" smtClean="0"/>
              <a:t>1-7-2026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9B582-9E7C-4FDB-8AEC-A58BAF8F3058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276161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BCC36-31DA-4D52-A764-80713D69E54F}" type="datetimeFigureOut">
              <a:rPr lang="nl-NL" smtClean="0"/>
              <a:t>1-7-2026</a:t>
            </a:fld>
            <a:endParaRPr lang="nl-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9B582-9E7C-4FDB-8AEC-A58BAF8F3058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13127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BCC36-31DA-4D52-A764-80713D69E54F}" type="datetimeFigureOut">
              <a:rPr lang="nl-NL" smtClean="0"/>
              <a:t>1-7-2026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9B582-9E7C-4FDB-8AEC-A58BAF8F3058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068576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BCC36-31DA-4D52-A764-80713D69E54F}" type="datetimeFigureOut">
              <a:rPr lang="nl-NL" smtClean="0"/>
              <a:t>1-7-2026</a:t>
            </a:fld>
            <a:endParaRPr lang="nl-N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9B582-9E7C-4FDB-8AEC-A58BAF8F3058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309164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BCC36-31DA-4D52-A764-80713D69E54F}" type="datetimeFigureOut">
              <a:rPr lang="nl-NL" smtClean="0"/>
              <a:t>1-7-2026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9B582-9E7C-4FDB-8AEC-A58BAF8F3058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576271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BCC36-31DA-4D52-A764-80713D69E54F}" type="datetimeFigureOut">
              <a:rPr lang="nl-NL" smtClean="0"/>
              <a:t>1-7-2026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9B582-9E7C-4FDB-8AEC-A58BAF8F3058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591662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BCC36-31DA-4D52-A764-80713D69E54F}" type="datetimeFigureOut">
              <a:rPr lang="nl-NL" smtClean="0"/>
              <a:t>1-7-2026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9B582-9E7C-4FDB-8AEC-A58BAF8F3058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217938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BCC36-31DA-4D52-A764-80713D69E54F}" type="datetimeFigureOut">
              <a:rPr lang="nl-NL" smtClean="0"/>
              <a:t>1-7-2026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9B582-9E7C-4FDB-8AEC-A58BAF8F3058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972186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+mn-lt"/>
              </a:defRPr>
            </a:lvl1pPr>
          </a:lstStyle>
          <a:p>
            <a:fld id="{38EBCC36-31DA-4D52-A764-80713D69E54F}" type="datetimeFigureOut">
              <a:rPr lang="nl-NL" smtClean="0"/>
              <a:t>1-7-2026</a:t>
            </a:fld>
            <a:endParaRPr lang="nl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+mn-lt"/>
              </a:defRPr>
            </a:lvl1pPr>
          </a:lstStyle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+mn-lt"/>
              </a:defRPr>
            </a:lvl1pPr>
          </a:lstStyle>
          <a:p>
            <a:fld id="{5C09B582-9E7C-4FDB-8AEC-A58BAF8F3058}" type="slidenum">
              <a:rPr lang="nl-NL" smtClean="0"/>
              <a:t>‹#›</a:t>
            </a:fld>
            <a:endParaRPr lang="nl-NL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C13EF9C-0B5A-4364-91AA-E5DD5B536E54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8F674475-6327-490A-BD7F-084F5C07F2E4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753B078-30BA-4AB9-A020-EE8D9404B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11096"/>
            <a:ext cx="10515600" cy="3859742"/>
          </a:xfrm>
        </p:spPr>
        <p:txBody>
          <a:bodyPr rtlCol="0"/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351632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38EBCC36-31DA-4D52-A764-80713D69E54F}" type="datetimeFigureOut">
              <a:rPr lang="nl-NL" smtClean="0"/>
              <a:t>1-7-2026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5C09B582-9E7C-4FDB-8AEC-A58BAF8F3058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29523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3.xml"/><Relationship Id="rId1" Type="http://schemas.openxmlformats.org/officeDocument/2006/relationships/themeOverride" Target="../theme/themeOverride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jpeg"/><Relationship Id="rId3" Type="http://schemas.openxmlformats.org/officeDocument/2006/relationships/image" Target="../media/image10.png"/><Relationship Id="rId7" Type="http://schemas.openxmlformats.org/officeDocument/2006/relationships/image" Target="../media/image16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jpeg"/><Relationship Id="rId5" Type="http://schemas.openxmlformats.org/officeDocument/2006/relationships/image" Target="../media/image14.jpeg"/><Relationship Id="rId4" Type="http://schemas.openxmlformats.org/officeDocument/2006/relationships/image" Target="../media/image13.jpeg"/><Relationship Id="rId9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hyperlink" Target="https://github.com/JDVlist/iot-xiao-cursus" TargetMode="Externa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jpeg"/><Relationship Id="rId3" Type="http://schemas.openxmlformats.org/officeDocument/2006/relationships/image" Target="../media/image10.png"/><Relationship Id="rId7" Type="http://schemas.openxmlformats.org/officeDocument/2006/relationships/image" Target="../media/image16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jpeg"/><Relationship Id="rId5" Type="http://schemas.openxmlformats.org/officeDocument/2006/relationships/image" Target="../media/image14.jpeg"/><Relationship Id="rId4" Type="http://schemas.openxmlformats.org/officeDocument/2006/relationships/image" Target="../media/image13.jpeg"/><Relationship Id="rId9" Type="http://schemas.openxmlformats.org/officeDocument/2006/relationships/image" Target="../media/image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930FF-CCE5-491F-E0F3-36EFA185A8B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600" noProof="0" dirty="0"/>
              <a:t>From Sensor to </a:t>
            </a:r>
            <a:r>
              <a:rPr lang="en-US" sz="6600" noProof="0" dirty="0" err="1"/>
              <a:t>GeoJSON</a:t>
            </a:r>
            <a:r>
              <a:rPr lang="en-US" sz="6600" noProof="0" dirty="0"/>
              <a:t>: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711AD-51C4-2187-CED3-F01B0F1C1E0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400" i="1" noProof="0" dirty="0"/>
              <a:t>Building an Open Source IoT Geo-Pipeline</a:t>
            </a:r>
          </a:p>
        </p:txBody>
      </p:sp>
      <p:pic>
        <p:nvPicPr>
          <p:cNvPr id="4" name="Afbeelding 4">
            <a:extLst>
              <a:ext uri="{FF2B5EF4-FFF2-40B4-BE49-F238E27FC236}">
                <a16:creationId xmlns:a16="http://schemas.microsoft.com/office/drawing/2014/main" id="{11C39A87-160A-30CA-D18D-68542C0860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1182" y="5712629"/>
            <a:ext cx="4607741" cy="69116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2720165-AD46-EA80-05C4-A173C60FD7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668" y="4807422"/>
            <a:ext cx="2003923" cy="1538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21510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4047B-424D-6CA0-6140-637A01FBA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About 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62BF74-9125-E572-0DBE-D3BB020DB7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48066" y="1804524"/>
            <a:ext cx="5505733" cy="4372439"/>
          </a:xfrm>
        </p:spPr>
        <p:txBody>
          <a:bodyPr>
            <a:normAutofit/>
          </a:bodyPr>
          <a:lstStyle/>
          <a:p>
            <a:r>
              <a:rPr lang="en-US" noProof="0" dirty="0"/>
              <a:t>MSc. Geology, Utrecht University</a:t>
            </a:r>
          </a:p>
          <a:p>
            <a:r>
              <a:rPr lang="en-US" noProof="0" dirty="0"/>
              <a:t>Python &amp; data during thesis</a:t>
            </a:r>
          </a:p>
          <a:p>
            <a:r>
              <a:rPr lang="en-US" noProof="0" dirty="0"/>
              <a:t>Python/GIS dev at an engineering company</a:t>
            </a:r>
          </a:p>
          <a:p>
            <a:r>
              <a:rPr lang="en-US" noProof="0" dirty="0"/>
              <a:t>Now teacher at Geo-ICT</a:t>
            </a:r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</p:txBody>
      </p:sp>
      <p:pic>
        <p:nvPicPr>
          <p:cNvPr id="3076" name="Picture 4" descr="profielafbeelding">
            <a:extLst>
              <a:ext uri="{FF2B5EF4-FFF2-40B4-BE49-F238E27FC236}">
                <a16:creationId xmlns:a16="http://schemas.microsoft.com/office/drawing/2014/main" id="{BC19673C-6B3C-7C8A-B4DB-0F7F385E86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9282" y="1965960"/>
            <a:ext cx="3859742" cy="3859742"/>
          </a:xfrm>
          <a:prstGeom prst="ellipse">
            <a:avLst/>
          </a:prstGeom>
          <a:ln w="63500" cap="rnd"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Afbeelding 3">
            <a:extLst>
              <a:ext uri="{FF2B5EF4-FFF2-40B4-BE49-F238E27FC236}">
                <a16:creationId xmlns:a16="http://schemas.microsoft.com/office/drawing/2014/main" id="{1109C749-83CF-ED72-6B47-4D645E12AEF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2660" y="6106751"/>
            <a:ext cx="2928730" cy="439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92461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87EC3-F884-5A6C-3610-1AF3DDCFB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Planning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A18282-2096-E041-EA96-A2579F0FCF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707419"/>
            <a:ext cx="9872871" cy="4540981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2800" noProof="0" dirty="0"/>
              <a:t>Geo-ICT</a:t>
            </a:r>
          </a:p>
          <a:p>
            <a:pPr>
              <a:lnSpc>
                <a:spcPct val="110000"/>
              </a:lnSpc>
            </a:pPr>
            <a:r>
              <a:rPr lang="en-US" sz="2800" noProof="0" dirty="0"/>
              <a:t>Workshop intro</a:t>
            </a:r>
            <a:r>
              <a:rPr lang="en-US" sz="2800" dirty="0"/>
              <a:t>: IoT &amp; components</a:t>
            </a:r>
            <a:endParaRPr lang="en-US" sz="2800" noProof="0" dirty="0"/>
          </a:p>
          <a:p>
            <a:pPr>
              <a:lnSpc>
                <a:spcPct val="110000"/>
              </a:lnSpc>
            </a:pPr>
            <a:r>
              <a:rPr lang="en-US" sz="2800" noProof="0" dirty="0"/>
              <a:t>First Project</a:t>
            </a:r>
          </a:p>
          <a:p>
            <a:pPr>
              <a:lnSpc>
                <a:spcPct val="110000"/>
              </a:lnSpc>
            </a:pPr>
            <a:r>
              <a:rPr lang="en-US" sz="2800" dirty="0"/>
              <a:t>More components &amp; connecting to </a:t>
            </a:r>
            <a:r>
              <a:rPr lang="en-US" sz="2800" dirty="0" err="1"/>
              <a:t>Wifi</a:t>
            </a:r>
            <a:r>
              <a:rPr lang="en-US" sz="2800" dirty="0"/>
              <a:t> etc.</a:t>
            </a:r>
          </a:p>
          <a:p>
            <a:pPr lvl="1">
              <a:lnSpc>
                <a:spcPct val="110000"/>
              </a:lnSpc>
            </a:pPr>
            <a:r>
              <a:rPr lang="en-US" sz="2400" noProof="0" dirty="0"/>
              <a:t>Self paced: </a:t>
            </a:r>
            <a:r>
              <a:rPr lang="en-US" sz="2400" noProof="0" dirty="0" err="1"/>
              <a:t>hel</a:t>
            </a:r>
            <a:r>
              <a:rPr lang="en-US" sz="2400" dirty="0"/>
              <a:t>p yourself and each other</a:t>
            </a:r>
          </a:p>
          <a:p>
            <a:pPr lvl="1">
              <a:lnSpc>
                <a:spcPct val="110000"/>
              </a:lnSpc>
            </a:pPr>
            <a:endParaRPr lang="en-US" sz="2400" noProof="0" dirty="0"/>
          </a:p>
          <a:p>
            <a:pPr>
              <a:lnSpc>
                <a:spcPct val="110000"/>
              </a:lnSpc>
            </a:pPr>
            <a:r>
              <a:rPr lang="en-US" sz="2600" noProof="0" dirty="0"/>
              <a:t>Break at around 16.00h</a:t>
            </a:r>
          </a:p>
          <a:p>
            <a:pPr marL="45720" indent="0">
              <a:lnSpc>
                <a:spcPct val="110000"/>
              </a:lnSpc>
              <a:buNone/>
            </a:pPr>
            <a:endParaRPr lang="en-US" sz="2800" noProof="0" dirty="0"/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57CC81CB-8BED-F906-38F3-E7D7AFD3DBB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2660" y="6106751"/>
            <a:ext cx="2928730" cy="439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35744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9BC03-55E6-E08F-1BB4-02BA17BE6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This</a:t>
            </a:r>
            <a:r>
              <a:rPr lang="nl-NL" dirty="0"/>
              <a:t> Workshop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5FB5A0-A390-A1F8-096D-CA3C225BF4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l-NL" sz="2800" dirty="0" err="1"/>
              <a:t>Ask</a:t>
            </a:r>
            <a:r>
              <a:rPr lang="nl-NL" sz="2800" dirty="0"/>
              <a:t> </a:t>
            </a:r>
            <a:r>
              <a:rPr lang="nl-NL" sz="2800" dirty="0" err="1"/>
              <a:t>your</a:t>
            </a:r>
            <a:r>
              <a:rPr lang="nl-NL" sz="2800" dirty="0"/>
              <a:t> </a:t>
            </a:r>
            <a:r>
              <a:rPr lang="nl-NL" sz="2800" dirty="0" err="1"/>
              <a:t>questions</a:t>
            </a:r>
            <a:r>
              <a:rPr lang="nl-NL" sz="2800" dirty="0"/>
              <a:t> </a:t>
            </a:r>
            <a:r>
              <a:rPr lang="nl-NL" sz="2800" dirty="0" err="1"/>
              <a:t>when</a:t>
            </a:r>
            <a:r>
              <a:rPr lang="nl-NL" sz="2800" dirty="0"/>
              <a:t> </a:t>
            </a:r>
            <a:r>
              <a:rPr lang="nl-NL" sz="2800" dirty="0" err="1"/>
              <a:t>you</a:t>
            </a:r>
            <a:r>
              <a:rPr lang="nl-NL" sz="2800" dirty="0"/>
              <a:t> have </a:t>
            </a:r>
            <a:r>
              <a:rPr lang="nl-NL" sz="2800" dirty="0" err="1"/>
              <a:t>them</a:t>
            </a:r>
            <a:endParaRPr lang="nl-NL" sz="2800" dirty="0"/>
          </a:p>
          <a:p>
            <a:r>
              <a:rPr lang="nl-NL" sz="2800" dirty="0" err="1"/>
              <a:t>Try</a:t>
            </a:r>
            <a:r>
              <a:rPr lang="nl-NL" sz="2800" dirty="0"/>
              <a:t> </a:t>
            </a:r>
            <a:r>
              <a:rPr lang="nl-NL" sz="2800" dirty="0" err="1"/>
              <a:t>to</a:t>
            </a:r>
            <a:r>
              <a:rPr lang="nl-NL" sz="2800" dirty="0"/>
              <a:t> fix </a:t>
            </a:r>
            <a:r>
              <a:rPr lang="nl-NL" sz="2800" dirty="0" err="1"/>
              <a:t>your</a:t>
            </a:r>
            <a:r>
              <a:rPr lang="nl-NL" sz="2800" dirty="0"/>
              <a:t> bugs</a:t>
            </a:r>
          </a:p>
          <a:p>
            <a:r>
              <a:rPr lang="nl-NL" sz="2800" dirty="0"/>
              <a:t>Read </a:t>
            </a:r>
            <a:r>
              <a:rPr lang="nl-NL" sz="2800" dirty="0" err="1"/>
              <a:t>the</a:t>
            </a:r>
            <a:r>
              <a:rPr lang="nl-NL" sz="2800" dirty="0"/>
              <a:t> </a:t>
            </a:r>
            <a:r>
              <a:rPr lang="nl-NL" sz="2800" dirty="0" err="1"/>
              <a:t>instructions</a:t>
            </a:r>
            <a:endParaRPr lang="nl-NL" sz="2800" dirty="0"/>
          </a:p>
          <a:p>
            <a:r>
              <a:rPr lang="nl-NL" sz="2800" dirty="0"/>
              <a:t>Help </a:t>
            </a:r>
            <a:r>
              <a:rPr lang="nl-NL" sz="2800" dirty="0" err="1"/>
              <a:t>each</a:t>
            </a:r>
            <a:r>
              <a:rPr lang="nl-NL" sz="2800" dirty="0"/>
              <a:t> </a:t>
            </a:r>
            <a:r>
              <a:rPr lang="nl-NL" sz="2800" dirty="0" err="1"/>
              <a:t>other</a:t>
            </a:r>
            <a:r>
              <a:rPr lang="nl-NL" sz="2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795981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A91349-AA66-2C5A-806E-975668BFA1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800" b="1" noProof="0" dirty="0"/>
              <a:t>Courses</a:t>
            </a:r>
          </a:p>
          <a:p>
            <a:pPr lvl="1"/>
            <a:r>
              <a:rPr lang="en-US" sz="2800" noProof="0" dirty="0"/>
              <a:t>QGIS, Python, Remote Sensing, Deep Learning, </a:t>
            </a:r>
            <a:r>
              <a:rPr lang="en-US" sz="2800" noProof="0" dirty="0" err="1"/>
              <a:t>PostGIS</a:t>
            </a:r>
            <a:r>
              <a:rPr lang="en-US" sz="2800" noProof="0" dirty="0"/>
              <a:t>, </a:t>
            </a:r>
            <a:r>
              <a:rPr lang="en-US" sz="2800" noProof="0" dirty="0" err="1"/>
              <a:t>Geoserver</a:t>
            </a:r>
            <a:r>
              <a:rPr lang="en-US" sz="2800" noProof="0" dirty="0"/>
              <a:t>, Docker, </a:t>
            </a:r>
            <a:r>
              <a:rPr lang="en-US" sz="2800" noProof="0" dirty="0" err="1"/>
              <a:t>Openlayers</a:t>
            </a:r>
            <a:r>
              <a:rPr lang="en-US" sz="2800" noProof="0" dirty="0"/>
              <a:t>, Web-GIS, Field surveying, Drones, and 200+ more</a:t>
            </a:r>
          </a:p>
          <a:p>
            <a:pPr lvl="1"/>
            <a:r>
              <a:rPr lang="en-US" sz="2800" noProof="0" dirty="0"/>
              <a:t>Blended learning, On-site, Online</a:t>
            </a:r>
          </a:p>
          <a:p>
            <a:pPr lvl="1"/>
            <a:endParaRPr lang="en-US" sz="2800" noProof="0" dirty="0"/>
          </a:p>
          <a:p>
            <a:r>
              <a:rPr lang="en-US" sz="2800" b="1" noProof="0" dirty="0"/>
              <a:t>IT/GIS staffing</a:t>
            </a:r>
            <a:r>
              <a:rPr lang="en-US" sz="2800" noProof="0" dirty="0"/>
              <a:t>/seconding</a:t>
            </a:r>
          </a:p>
          <a:p>
            <a:pPr lvl="1"/>
            <a:r>
              <a:rPr lang="en-US" sz="2800" noProof="0" dirty="0"/>
              <a:t>Europe</a:t>
            </a:r>
          </a:p>
          <a:p>
            <a:pPr lvl="1"/>
            <a:r>
              <a:rPr lang="en-US" sz="2800" noProof="0" dirty="0"/>
              <a:t>Remote</a:t>
            </a:r>
          </a:p>
        </p:txBody>
      </p:sp>
      <p:pic>
        <p:nvPicPr>
          <p:cNvPr id="4" name="Afbeelding 4">
            <a:extLst>
              <a:ext uri="{FF2B5EF4-FFF2-40B4-BE49-F238E27FC236}">
                <a16:creationId xmlns:a16="http://schemas.microsoft.com/office/drawing/2014/main" id="{0FD4861B-0D07-ADFB-E1B5-E3970ACCAB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4996" y="849629"/>
            <a:ext cx="5842007" cy="876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65744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4AB7D5-0B9E-F441-BD22-8F859DF394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Afbeelding 4">
            <a:extLst>
              <a:ext uri="{FF2B5EF4-FFF2-40B4-BE49-F238E27FC236}">
                <a16:creationId xmlns:a16="http://schemas.microsoft.com/office/drawing/2014/main" id="{688DD33B-20F8-343B-FB8A-7E084C0BE4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4996" y="849629"/>
            <a:ext cx="5842007" cy="876302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04671A9-94A1-191A-8CF6-C22102DC8A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Our partners:</a:t>
            </a:r>
          </a:p>
          <a:p>
            <a:endParaRPr lang="en-US" noProof="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706367E-CEA8-5D55-068F-82FAC0C8D2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5534" y="4880082"/>
            <a:ext cx="4624136" cy="1128289"/>
          </a:xfrm>
          <a:prstGeom prst="rect">
            <a:avLst/>
          </a:prstGeom>
        </p:spPr>
      </p:pic>
      <p:pic>
        <p:nvPicPr>
          <p:cNvPr id="8" name="Picture 7" descr="Customised QGIS Training | Leading providers of QGIS training in ...">
            <a:extLst>
              <a:ext uri="{FF2B5EF4-FFF2-40B4-BE49-F238E27FC236}">
                <a16:creationId xmlns:a16="http://schemas.microsoft.com/office/drawing/2014/main" id="{AD6CDDFB-CB82-2C7D-EA80-BD418A6401E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725" t="12880" r="2457" b="13255"/>
          <a:stretch>
            <a:fillRect/>
          </a:stretch>
        </p:blipFill>
        <p:spPr>
          <a:xfrm>
            <a:off x="7599579" y="2563200"/>
            <a:ext cx="3176887" cy="2857262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00240940-D44C-A52A-F5A1-BC644B6D9781}"/>
              </a:ext>
            </a:extLst>
          </p:cNvPr>
          <p:cNvGrpSpPr/>
          <p:nvPr/>
        </p:nvGrpSpPr>
        <p:grpSpPr>
          <a:xfrm>
            <a:off x="1415534" y="1977918"/>
            <a:ext cx="5053326" cy="2305851"/>
            <a:chOff x="973986" y="2176961"/>
            <a:chExt cx="5053326" cy="2305851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F64251BA-60E5-D21F-7524-031E8541F35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73986" y="2563200"/>
              <a:ext cx="3903471" cy="1782585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B9EF8968-4BB4-F439-4408-8CF4C995107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727602" y="2176961"/>
              <a:ext cx="2299710" cy="23058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43143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FC511-AD59-4ECE-DBF8-2C69F189C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You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C82778-70B0-E790-5867-09E7E371F6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noProof="0" dirty="0"/>
              <a:t>What do you do?</a:t>
            </a:r>
          </a:p>
          <a:p>
            <a:r>
              <a:rPr lang="en-US" sz="2400" noProof="0" dirty="0"/>
              <a:t>Where do you work?</a:t>
            </a:r>
          </a:p>
          <a:p>
            <a:r>
              <a:rPr lang="en-US" sz="2400" noProof="0" dirty="0"/>
              <a:t>Where do you live?</a:t>
            </a:r>
          </a:p>
          <a:p>
            <a:endParaRPr lang="en-US" sz="2400" noProof="0" dirty="0"/>
          </a:p>
          <a:p>
            <a:endParaRPr lang="en-US" sz="2400" noProof="0" dirty="0"/>
          </a:p>
        </p:txBody>
      </p:sp>
      <p:pic>
        <p:nvPicPr>
          <p:cNvPr id="5" name="Afbeelding 3">
            <a:extLst>
              <a:ext uri="{FF2B5EF4-FFF2-40B4-BE49-F238E27FC236}">
                <a16:creationId xmlns:a16="http://schemas.microsoft.com/office/drawing/2014/main" id="{DA8CDFF5-A506-B145-F78C-FA7BA99136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2660" y="6106751"/>
            <a:ext cx="2928730" cy="439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335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89CEC-8519-CE9D-FFAE-9B6D72163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Raise of hands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045452-7C15-6F20-3970-9FF36AC302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noProof="0" dirty="0"/>
              <a:t>Do you have any coding experience?</a:t>
            </a:r>
          </a:p>
          <a:p>
            <a:r>
              <a:rPr lang="en-US" sz="2400" noProof="0" dirty="0"/>
              <a:t>Did you ever code with C/C++?</a:t>
            </a:r>
          </a:p>
          <a:p>
            <a:r>
              <a:rPr lang="en-US" sz="2400" noProof="0" dirty="0"/>
              <a:t>Do you have any electronics experience?</a:t>
            </a:r>
          </a:p>
          <a:p>
            <a:endParaRPr lang="en-US" sz="2400" noProof="0" dirty="0"/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0484A74E-67A9-DECA-0844-4088A4440D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2660" y="6106751"/>
            <a:ext cx="2928730" cy="439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3982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4278C-F31A-C1F2-B562-B0141D278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IOT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258233-CCE4-62E7-0578-46DDFDC8F4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noProof="0" dirty="0"/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64DE3BF9-0B21-047E-236C-54CDADEB52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2660" y="6106751"/>
            <a:ext cx="2928730" cy="439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10510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9ADD54-72E9-29BF-46CF-F82A12CE89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8282E-35AA-DBA0-9CC6-805BCC6EE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Why?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ED0DEB-C662-A6EE-9FD1-ECB80443BF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2400" noProof="0" dirty="0"/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A76D9ADB-8394-5032-A819-6B193C2073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2660" y="6106751"/>
            <a:ext cx="2928730" cy="439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394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29416-3508-BCBB-6582-6BD6C1028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IoT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19909C-B4B0-3042-0AFD-5738763399B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noProof="0" dirty="0"/>
              <a:t>Internet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noProof="0" dirty="0"/>
              <a:t>Of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noProof="0" dirty="0"/>
              <a:t>Things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1210C4F-0125-93CA-1806-7A6FC7CAF0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24660" y="421783"/>
            <a:ext cx="6014434" cy="6014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642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B2852-D33E-3CF8-DE38-17C4C4718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5FD87A-F894-62A5-2C70-766B6D8913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noProof="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62435A8-B8A8-B09C-49CD-41798E023D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365" y="609600"/>
            <a:ext cx="9792694" cy="553246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EF3E34CD-7BEB-92DC-A9C8-33AB6A9B564E}"/>
              </a:ext>
            </a:extLst>
          </p:cNvPr>
          <p:cNvSpPr/>
          <p:nvPr/>
        </p:nvSpPr>
        <p:spPr>
          <a:xfrm>
            <a:off x="1143000" y="1706451"/>
            <a:ext cx="2701344" cy="4146997"/>
          </a:xfrm>
          <a:prstGeom prst="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38D9BE6A-D644-1ED3-2776-6CCCC425D4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2660" y="6106751"/>
            <a:ext cx="2928730" cy="439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384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AF4FB-D6D2-2B90-E853-31EE8356F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New courses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E4B4BD-6CF2-5DB5-8ACC-D652288DD02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17" t="31548" r="908" b="1733"/>
          <a:stretch>
            <a:fillRect/>
          </a:stretch>
        </p:blipFill>
        <p:spPr>
          <a:xfrm>
            <a:off x="1390320" y="2756080"/>
            <a:ext cx="9378229" cy="294926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65D522B-CBDF-031A-EE50-1091FD3D7D62}"/>
              </a:ext>
            </a:extLst>
          </p:cNvPr>
          <p:cNvSpPr/>
          <p:nvPr/>
        </p:nvSpPr>
        <p:spPr>
          <a:xfrm>
            <a:off x="6079434" y="2756080"/>
            <a:ext cx="2330470" cy="3007216"/>
          </a:xfrm>
          <a:prstGeom prst="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3" name="Afbeelding 3">
            <a:extLst>
              <a:ext uri="{FF2B5EF4-FFF2-40B4-BE49-F238E27FC236}">
                <a16:creationId xmlns:a16="http://schemas.microsoft.com/office/drawing/2014/main" id="{E0915A5C-1FB0-F5E9-8F50-2AF5F30B70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2660" y="6106751"/>
            <a:ext cx="2928730" cy="439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6372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AE6B7-CA06-7176-D9FB-E7968C67C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Today: sneak peak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38C403-D183-738B-C95B-F94797DA97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2057400"/>
            <a:ext cx="5753637" cy="4038600"/>
          </a:xfrm>
        </p:spPr>
        <p:txBody>
          <a:bodyPr>
            <a:normAutofit/>
          </a:bodyPr>
          <a:lstStyle/>
          <a:p>
            <a:r>
              <a:rPr lang="en-US" sz="2400" noProof="0" dirty="0"/>
              <a:t>Basics of IoT</a:t>
            </a:r>
          </a:p>
          <a:p>
            <a:r>
              <a:rPr lang="en-US" sz="2400" noProof="0" dirty="0"/>
              <a:t>Getting to know the hardware</a:t>
            </a:r>
          </a:p>
          <a:p>
            <a:r>
              <a:rPr lang="en-US" sz="2400" noProof="0" dirty="0"/>
              <a:t>Sensor: temperature &amp; humidity</a:t>
            </a:r>
          </a:p>
          <a:p>
            <a:r>
              <a:rPr lang="en-US" sz="2400" noProof="0" dirty="0"/>
              <a:t>GPS antenna</a:t>
            </a:r>
          </a:p>
          <a:p>
            <a:r>
              <a:rPr lang="en-US" sz="2400" noProof="0" dirty="0" err="1"/>
              <a:t>WiFi</a:t>
            </a:r>
            <a:r>
              <a:rPr lang="en-US" sz="2400" noProof="0" dirty="0"/>
              <a:t>-connection</a:t>
            </a:r>
          </a:p>
          <a:p>
            <a:r>
              <a:rPr lang="en-US" sz="2400" noProof="0" dirty="0" err="1"/>
              <a:t>GeoJSON</a:t>
            </a:r>
            <a:endParaRPr lang="en-US" sz="2400" noProof="0" dirty="0"/>
          </a:p>
          <a:p>
            <a:endParaRPr lang="en-US" sz="2400" noProof="0" dirty="0"/>
          </a:p>
          <a:p>
            <a:r>
              <a:rPr lang="en-US" sz="2400" noProof="0" dirty="0"/>
              <a:t>Self-paced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CD3940-C8D7-1F9C-BED4-B272129F2ED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903" t="32714" r="25745" b="2463"/>
          <a:stretch>
            <a:fillRect/>
          </a:stretch>
        </p:blipFill>
        <p:spPr>
          <a:xfrm>
            <a:off x="7637681" y="695996"/>
            <a:ext cx="3715045" cy="4728466"/>
          </a:xfrm>
          <a:prstGeom prst="rect">
            <a:avLst/>
          </a:prstGeom>
        </p:spPr>
      </p:pic>
      <p:pic>
        <p:nvPicPr>
          <p:cNvPr id="5" name="Afbeelding 3">
            <a:extLst>
              <a:ext uri="{FF2B5EF4-FFF2-40B4-BE49-F238E27FC236}">
                <a16:creationId xmlns:a16="http://schemas.microsoft.com/office/drawing/2014/main" id="{040B8D31-3EB3-8CAF-176C-92B288CF34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2660" y="6106751"/>
            <a:ext cx="2928730" cy="439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1498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527084-8F60-A7B9-8DCD-38E1BD085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7B6A5-BC13-E0EB-5215-1DC2BFD95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866B44-9AB5-D4D0-8D2F-4BF32C08E7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noProof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7589C3-9C57-3240-8EAC-4D04E7062E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9718" y="517364"/>
            <a:ext cx="6230717" cy="573103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BA765E7-9CFA-D7EA-6050-D97BCD9DEF3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32" t="21031" r="74145" b="6765"/>
          <a:stretch>
            <a:fillRect/>
          </a:stretch>
        </p:blipFill>
        <p:spPr>
          <a:xfrm>
            <a:off x="390063" y="743450"/>
            <a:ext cx="3031290" cy="53710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F39341C-9B62-9A7B-B9BC-C04463A2C078}"/>
              </a:ext>
            </a:extLst>
          </p:cNvPr>
          <p:cNvSpPr txBox="1"/>
          <p:nvPr/>
        </p:nvSpPr>
        <p:spPr>
          <a:xfrm>
            <a:off x="9942286" y="2979783"/>
            <a:ext cx="16546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noProof="0" dirty="0"/>
              <a:t>+ GPS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68F6C7C-77FD-720A-6493-9D0C86A47E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1817" y="3751742"/>
            <a:ext cx="2287342" cy="198659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3F67708-FA71-CCBE-26BE-952C896AD5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68394" y="917310"/>
            <a:ext cx="2446987" cy="183524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7172C20-AF02-538F-5C02-6B2CEF2BDB4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5167" t="10224" r="22752" b="4517"/>
          <a:stretch>
            <a:fillRect/>
          </a:stretch>
        </p:blipFill>
        <p:spPr>
          <a:xfrm>
            <a:off x="7518134" y="3807566"/>
            <a:ext cx="1213546" cy="1986599"/>
          </a:xfrm>
          <a:prstGeom prst="rect">
            <a:avLst/>
          </a:prstGeom>
        </p:spPr>
      </p:pic>
      <p:pic>
        <p:nvPicPr>
          <p:cNvPr id="10" name="Picture 9" descr="Cablu de date Type-C PD18W, 1m Ugreen, negru, 60116">
            <a:extLst>
              <a:ext uri="{FF2B5EF4-FFF2-40B4-BE49-F238E27FC236}">
                <a16:creationId xmlns:a16="http://schemas.microsoft.com/office/drawing/2014/main" id="{5B532742-74CB-F051-94F0-A8711645C65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53887" y="809726"/>
            <a:ext cx="2034325" cy="203432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D64668E-B5A1-0DB9-B651-C3B681BFB831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b="11407"/>
          <a:stretch>
            <a:fillRect/>
          </a:stretch>
        </p:blipFill>
        <p:spPr>
          <a:xfrm>
            <a:off x="9750440" y="1287780"/>
            <a:ext cx="2038319" cy="1805811"/>
          </a:xfrm>
          <a:prstGeom prst="rect">
            <a:avLst/>
          </a:prstGeom>
        </p:spPr>
      </p:pic>
      <p:pic>
        <p:nvPicPr>
          <p:cNvPr id="14" name="Afbeelding 3">
            <a:extLst>
              <a:ext uri="{FF2B5EF4-FFF2-40B4-BE49-F238E27FC236}">
                <a16:creationId xmlns:a16="http://schemas.microsoft.com/office/drawing/2014/main" id="{81C04FFB-F407-8F9C-45C8-C51F3EA36A1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2660" y="6106751"/>
            <a:ext cx="2928730" cy="439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66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B932E-35D4-D26E-CEE3-7D9D2E14F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Universal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A77333-4620-989E-0302-F07D5C4C0D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 err="1"/>
              <a:t>All</a:t>
            </a:r>
            <a:r>
              <a:rPr lang="nl-NL" dirty="0"/>
              <a:t> </a:t>
            </a:r>
            <a:r>
              <a:rPr lang="nl-NL" dirty="0" err="1"/>
              <a:t>parts</a:t>
            </a:r>
            <a:r>
              <a:rPr lang="nl-NL" dirty="0"/>
              <a:t> are </a:t>
            </a:r>
            <a:r>
              <a:rPr lang="nl-NL" dirty="0" err="1"/>
              <a:t>interchangable</a:t>
            </a:r>
            <a:endParaRPr lang="nl-NL" dirty="0"/>
          </a:p>
          <a:p>
            <a:r>
              <a:rPr lang="nl-NL" dirty="0"/>
              <a:t>Power </a:t>
            </a:r>
            <a:r>
              <a:rPr lang="nl-NL" dirty="0" err="1"/>
              <a:t>cable</a:t>
            </a:r>
            <a:r>
              <a:rPr lang="nl-NL" dirty="0"/>
              <a:t> -&gt; </a:t>
            </a:r>
            <a:r>
              <a:rPr lang="nl-NL" dirty="0" err="1"/>
              <a:t>battery</a:t>
            </a:r>
            <a:endParaRPr lang="nl-NL" dirty="0"/>
          </a:p>
          <a:p>
            <a:r>
              <a:rPr lang="nl-NL" dirty="0" err="1"/>
              <a:t>WiFi</a:t>
            </a:r>
            <a:r>
              <a:rPr lang="nl-NL" dirty="0"/>
              <a:t> -&gt; 4G</a:t>
            </a:r>
          </a:p>
        </p:txBody>
      </p:sp>
    </p:spTree>
    <p:extLst>
      <p:ext uri="{BB962C8B-B14F-4D97-AF65-F5344CB8AC3E}">
        <p14:creationId xmlns:p14="http://schemas.microsoft.com/office/powerpoint/2010/main" val="39397411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53555-56DE-5A00-112B-4ABF47A2E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Not today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7BC8B2-B5BB-0569-B7CB-917B4D6705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noProof="0" dirty="0"/>
              <a:t>OGC </a:t>
            </a:r>
            <a:r>
              <a:rPr lang="en-US" sz="2400" noProof="0" dirty="0" err="1"/>
              <a:t>sensorthings</a:t>
            </a:r>
            <a:r>
              <a:rPr lang="en-US" sz="2400" noProof="0" dirty="0"/>
              <a:t> </a:t>
            </a:r>
          </a:p>
          <a:p>
            <a:pPr lvl="1"/>
            <a:r>
              <a:rPr lang="en-US" sz="2200" noProof="0" dirty="0"/>
              <a:t>Would be a good upgrade</a:t>
            </a:r>
          </a:p>
          <a:p>
            <a:r>
              <a:rPr lang="en-US" sz="2400" noProof="0" dirty="0"/>
              <a:t>Connecting to a live backend</a:t>
            </a:r>
          </a:p>
          <a:p>
            <a:r>
              <a:rPr lang="en-US" sz="2400" noProof="0" dirty="0"/>
              <a:t>Building a backend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AC030F-3765-B704-5FFD-2C4E9C00F5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6103" y="2704563"/>
            <a:ext cx="6612139" cy="373558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8A65CF2-0097-FD02-0B96-F8DF1D0A963D}"/>
              </a:ext>
            </a:extLst>
          </p:cNvPr>
          <p:cNvSpPr/>
          <p:nvPr/>
        </p:nvSpPr>
        <p:spPr>
          <a:xfrm>
            <a:off x="7830355" y="3510030"/>
            <a:ext cx="3977887" cy="2930116"/>
          </a:xfrm>
          <a:prstGeom prst="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72107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2E91D-DE25-371D-7C00-F59B3669B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XIAO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7246C4-9D01-70C6-B5E6-BA97C3931D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noProof="0" dirty="0"/>
              <a:t>The star of the show</a:t>
            </a:r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F8AFE0A2-ACA4-970E-3FCB-207651C708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2660" y="6106751"/>
            <a:ext cx="2928730" cy="439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34947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8B52B-765E-F236-34F6-02D87B593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C72F06-4AA4-DAF9-B820-BD3B33EF3E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noProof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5258969-7966-BD73-9BC0-5D826A1FCC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8285" y="857250"/>
            <a:ext cx="6855430" cy="5143500"/>
          </a:xfrm>
          <a:prstGeom prst="rect">
            <a:avLst/>
          </a:prstGeom>
        </p:spPr>
      </p:pic>
      <p:pic>
        <p:nvPicPr>
          <p:cNvPr id="6" name="Afbeelding 3">
            <a:extLst>
              <a:ext uri="{FF2B5EF4-FFF2-40B4-BE49-F238E27FC236}">
                <a16:creationId xmlns:a16="http://schemas.microsoft.com/office/drawing/2014/main" id="{A3AA4DBE-14EE-8B17-32AB-95AF8D6C37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2660" y="6106751"/>
            <a:ext cx="2928730" cy="439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56580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FA20E-B812-C7E8-3C8B-316F9A22A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7125" y="659398"/>
            <a:ext cx="3931920" cy="782703"/>
          </a:xfrm>
        </p:spPr>
        <p:txBody>
          <a:bodyPr/>
          <a:lstStyle/>
          <a:p>
            <a:r>
              <a:rPr lang="en-US" noProof="0" dirty="0"/>
              <a:t>XIAO ESP32 C3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08F939-F20A-0E0E-B5E3-D71CB3138F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64779" y="1777948"/>
            <a:ext cx="4578927" cy="3533963"/>
          </a:xfrm>
        </p:spPr>
        <p:txBody>
          <a:bodyPr>
            <a:noAutofit/>
          </a:bodyPr>
          <a:lstStyle/>
          <a:p>
            <a:r>
              <a:rPr lang="en-US" sz="2400" b="1" noProof="0" dirty="0"/>
              <a:t>XIAO</a:t>
            </a:r>
            <a:r>
              <a:rPr lang="en-US" sz="2400" noProof="0" dirty="0"/>
              <a:t> = “small” in Chinese</a:t>
            </a:r>
          </a:p>
          <a:p>
            <a:r>
              <a:rPr lang="en-US" sz="2400" b="1" noProof="0" dirty="0"/>
              <a:t>ESP32-C3</a:t>
            </a:r>
            <a:r>
              <a:rPr lang="en-US" sz="2400" noProof="0" dirty="0"/>
              <a:t> = the microcontroller chip on the board, made by </a:t>
            </a:r>
            <a:r>
              <a:rPr lang="en-US" sz="2400" noProof="0" dirty="0" err="1"/>
              <a:t>Espressif</a:t>
            </a:r>
            <a:endParaRPr lang="en-US" sz="2400" noProof="0" dirty="0"/>
          </a:p>
          <a:p>
            <a:r>
              <a:rPr lang="en-US" sz="2400" b="1" noProof="0" dirty="0" err="1"/>
              <a:t>Seeed</a:t>
            </a:r>
            <a:r>
              <a:rPr lang="en-US" sz="2400" b="1" noProof="0" dirty="0"/>
              <a:t> Studio </a:t>
            </a:r>
            <a:r>
              <a:rPr lang="en-US" sz="2400" noProof="0" dirty="0"/>
              <a:t>= the brand</a:t>
            </a:r>
          </a:p>
          <a:p>
            <a:endParaRPr lang="en-US" sz="2400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noProof="0" dirty="0"/>
              <a:t>Bluetooth Low Energy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noProof="0" dirty="0" err="1"/>
              <a:t>WiFi</a:t>
            </a:r>
            <a:r>
              <a:rPr lang="en-US" sz="2400" noProof="0" dirty="0"/>
              <a:t> (antenna)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noProof="0" dirty="0"/>
              <a:t>Header pins (soldering)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328A18E-4B60-0398-4AB0-4C0BAE2E84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l="14335" t="17417" r="20226" b="15459"/>
          <a:stretch>
            <a:fillRect/>
          </a:stretch>
        </p:blipFill>
        <p:spPr>
          <a:xfrm>
            <a:off x="5851525" y="1423655"/>
            <a:ext cx="5213350" cy="4010691"/>
          </a:xfrm>
          <a:prstGeom prst="rect">
            <a:avLst/>
          </a:prstGeom>
        </p:spPr>
      </p:pic>
      <p:pic>
        <p:nvPicPr>
          <p:cNvPr id="3" name="Afbeelding 3">
            <a:extLst>
              <a:ext uri="{FF2B5EF4-FFF2-40B4-BE49-F238E27FC236}">
                <a16:creationId xmlns:a16="http://schemas.microsoft.com/office/drawing/2014/main" id="{05A07A73-645C-71E4-CCA0-03C350EF8D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2660" y="6106751"/>
            <a:ext cx="2928730" cy="439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139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F8893-595D-80EB-7113-23B814339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BC12DF-D6B6-0743-43A6-32042D5841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noProof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D274EC-B9C5-43E3-E282-DE19480F76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826" r="26788" b="29806"/>
          <a:stretch>
            <a:fillRect/>
          </a:stretch>
        </p:blipFill>
        <p:spPr>
          <a:xfrm>
            <a:off x="3503054" y="280106"/>
            <a:ext cx="5190185" cy="442068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3F1D26E-C494-C463-FB22-D39E15B479BA}"/>
              </a:ext>
            </a:extLst>
          </p:cNvPr>
          <p:cNvSpPr/>
          <p:nvPr/>
        </p:nvSpPr>
        <p:spPr>
          <a:xfrm>
            <a:off x="7682247" y="1287780"/>
            <a:ext cx="965915" cy="1268676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200F47-4012-1AAD-C1C0-DBC4F11F856F}"/>
              </a:ext>
            </a:extLst>
          </p:cNvPr>
          <p:cNvSpPr txBox="1"/>
          <p:nvPr/>
        </p:nvSpPr>
        <p:spPr>
          <a:xfrm>
            <a:off x="8814586" y="1545239"/>
            <a:ext cx="20799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noProof="0" dirty="0">
                <a:solidFill>
                  <a:srgbClr val="FF0000"/>
                </a:solidFill>
              </a:rPr>
              <a:t>Careful</a:t>
            </a:r>
          </a:p>
        </p:txBody>
      </p:sp>
      <p:pic>
        <p:nvPicPr>
          <p:cNvPr id="7" name="Afbeelding 3">
            <a:extLst>
              <a:ext uri="{FF2B5EF4-FFF2-40B4-BE49-F238E27FC236}">
                <a16:creationId xmlns:a16="http://schemas.microsoft.com/office/drawing/2014/main" id="{6D8D86DE-ED9D-441D-66AF-1C2C56446E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2660" y="6106751"/>
            <a:ext cx="2928730" cy="439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686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4F66E2-94F5-5806-350D-8FE316A0B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15811-000B-6CB8-1456-E0B4AD00D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5B0849-47B6-7C26-29C1-EB36C500DF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noProof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641539-5975-35B4-B0AF-111C30B0DE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573" y="280106"/>
            <a:ext cx="11188853" cy="6297788"/>
          </a:xfrm>
          <a:prstGeom prst="rect">
            <a:avLst/>
          </a:prstGeom>
        </p:spPr>
      </p:pic>
      <p:pic>
        <p:nvPicPr>
          <p:cNvPr id="5" name="Afbeelding 3">
            <a:extLst>
              <a:ext uri="{FF2B5EF4-FFF2-40B4-BE49-F238E27FC236}">
                <a16:creationId xmlns:a16="http://schemas.microsoft.com/office/drawing/2014/main" id="{DECCC237-4A79-3515-FF58-5C53A9F75D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2660" y="6106751"/>
            <a:ext cx="2928730" cy="439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06338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D5A5F-9628-F6F0-5F24-023977923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Simple setup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B843A3-1CB0-996E-7711-555BCA3BAD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noProof="0" dirty="0"/>
              <a:t>Blink a LED</a:t>
            </a:r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ED92CF4B-1F92-7652-735D-23CDCD3500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2660" y="6106751"/>
            <a:ext cx="2928730" cy="439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3264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E7620-171C-A49A-7D50-563DB68DE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Basic electronics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AEC0A5-26EE-4597-3F11-A78AC7EC0E5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noProof="0" dirty="0"/>
              <a:t>Power source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noProof="0" dirty="0"/>
              <a:t>LED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noProof="0" dirty="0"/>
              <a:t>Resistor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noProof="0" dirty="0"/>
              <a:t>What can go wrong?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noProof="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FE6ABE1-3B08-5EBB-64CF-4CB57E2EDB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81860" y="349663"/>
            <a:ext cx="4867140" cy="621618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1156F6F-31C7-F22F-D8D3-B2A07052FC66}"/>
              </a:ext>
            </a:extLst>
          </p:cNvPr>
          <p:cNvSpPr/>
          <p:nvPr/>
        </p:nvSpPr>
        <p:spPr>
          <a:xfrm>
            <a:off x="8822028" y="2176530"/>
            <a:ext cx="1204175" cy="772732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8906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502F9-49DF-D24A-1823-913185269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LED XIAO setup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F1C3219-250B-8309-FCA4-235AFB60A7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32961" y="1493949"/>
            <a:ext cx="6270645" cy="3488045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376FF6-1A23-D1A9-AC44-57E94E1E931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noProof="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noProof="0" dirty="0"/>
              <a:t>D10 sends a digital signal, enough for LED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noProof="0" dirty="0"/>
              <a:t>Now we can program the LED</a:t>
            </a:r>
          </a:p>
        </p:txBody>
      </p:sp>
      <p:pic>
        <p:nvPicPr>
          <p:cNvPr id="7" name="Afbeelding 3">
            <a:extLst>
              <a:ext uri="{FF2B5EF4-FFF2-40B4-BE49-F238E27FC236}">
                <a16:creationId xmlns:a16="http://schemas.microsoft.com/office/drawing/2014/main" id="{BCE2330A-61C2-A2B1-A526-F83AC1C6FC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2660" y="6106751"/>
            <a:ext cx="2928730" cy="439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61846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F19C7-CDE9-81DD-6B67-C34982FC9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Breadboard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CCCEF8-9C8F-739E-08D2-2023FC6354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noProof="0" dirty="0"/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7D81CE2B-2AF3-0658-B980-4EDA790F4E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2660" y="6106751"/>
            <a:ext cx="2928730" cy="439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48648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ow to wire a breadboard">
            <a:extLst>
              <a:ext uri="{FF2B5EF4-FFF2-40B4-BE49-F238E27FC236}">
                <a16:creationId xmlns:a16="http://schemas.microsoft.com/office/drawing/2014/main" id="{A24EBBFF-91D2-08A2-E54E-4F33E273FB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868" y="712835"/>
            <a:ext cx="5612497" cy="3575829"/>
          </a:xfrm>
          <a:prstGeom prst="rect">
            <a:avLst/>
          </a:prstGeom>
        </p:spPr>
      </p:pic>
      <p:pic>
        <p:nvPicPr>
          <p:cNvPr id="3" name="Picture 2" descr="how to wire a breadboard">
            <a:extLst>
              <a:ext uri="{FF2B5EF4-FFF2-40B4-BE49-F238E27FC236}">
                <a16:creationId xmlns:a16="http://schemas.microsoft.com/office/drawing/2014/main" id="{4F8BC638-E51C-E073-4D1B-5357BC860D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2790" y="3379988"/>
            <a:ext cx="6176724" cy="3054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8035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66358C4-B04C-B47D-F74F-639BD84F12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886" y="311939"/>
            <a:ext cx="7972879" cy="5979660"/>
          </a:xfrm>
          <a:prstGeom prst="rect">
            <a:avLst/>
          </a:prstGeom>
        </p:spPr>
      </p:pic>
      <p:pic>
        <p:nvPicPr>
          <p:cNvPr id="3" name="Afbeelding 3">
            <a:extLst>
              <a:ext uri="{FF2B5EF4-FFF2-40B4-BE49-F238E27FC236}">
                <a16:creationId xmlns:a16="http://schemas.microsoft.com/office/drawing/2014/main" id="{93007257-CF56-9724-FB49-B370B08EB3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2660" y="6106751"/>
            <a:ext cx="2928730" cy="439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9340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5972BE4-C7B4-CA36-87B1-9F32581936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410" y="440704"/>
            <a:ext cx="7667695" cy="5670321"/>
          </a:xfrm>
          <a:prstGeom prst="rect">
            <a:avLst/>
          </a:prstGeom>
        </p:spPr>
      </p:pic>
      <p:pic>
        <p:nvPicPr>
          <p:cNvPr id="4" name="Content Placeholder 5">
            <a:extLst>
              <a:ext uri="{FF2B5EF4-FFF2-40B4-BE49-F238E27FC236}">
                <a16:creationId xmlns:a16="http://schemas.microsoft.com/office/drawing/2014/main" id="{AC48FAB5-B233-86E5-8012-3359837622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2279" y="2622980"/>
            <a:ext cx="6270645" cy="3488045"/>
          </a:xfrm>
          <a:prstGeom prst="rect">
            <a:avLst/>
          </a:prstGeom>
        </p:spPr>
      </p:pic>
      <p:pic>
        <p:nvPicPr>
          <p:cNvPr id="5" name="Afbeelding 3">
            <a:extLst>
              <a:ext uri="{FF2B5EF4-FFF2-40B4-BE49-F238E27FC236}">
                <a16:creationId xmlns:a16="http://schemas.microsoft.com/office/drawing/2014/main" id="{9D9BA43A-5BB7-C0EB-1BBD-A2D1B8666B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2660" y="6106751"/>
            <a:ext cx="2928730" cy="439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992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64915-6D52-DEB1-915D-C5B4C6E63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Programming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AFEC1C-ABAD-9A0F-A222-D32B209F0F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3900297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71724-2293-99B2-3210-552247AE8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C6402-B7EF-4F94-5B15-AB86A9378B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1" y="2057400"/>
            <a:ext cx="5309314" cy="4038600"/>
          </a:xfrm>
        </p:spPr>
        <p:txBody>
          <a:bodyPr>
            <a:normAutofit fontScale="92500" lnSpcReduction="10000"/>
          </a:bodyPr>
          <a:lstStyle/>
          <a:p>
            <a:r>
              <a:rPr lang="en-US" noProof="0" dirty="0"/>
              <a:t>Arduino IDE</a:t>
            </a:r>
          </a:p>
          <a:p>
            <a:r>
              <a:rPr lang="en-US" noProof="0" dirty="0"/>
              <a:t>IDE of choice (I use VS-code)</a:t>
            </a:r>
          </a:p>
          <a:p>
            <a:endParaRPr lang="en-US" noProof="0" dirty="0"/>
          </a:p>
          <a:p>
            <a:r>
              <a:rPr lang="en-US" noProof="0" dirty="0"/>
              <a:t>Coding is done</a:t>
            </a:r>
          </a:p>
          <a:p>
            <a:r>
              <a:rPr lang="en-US" noProof="0" dirty="0"/>
              <a:t>Extend if you want, but not </a:t>
            </a:r>
            <a:r>
              <a:rPr lang="nl-NL" noProof="0" dirty="0"/>
              <a:t>nee</a:t>
            </a:r>
            <a:r>
              <a:rPr lang="nl-NL" dirty="0" err="1"/>
              <a:t>ded</a:t>
            </a:r>
            <a:r>
              <a:rPr lang="nl-NL" dirty="0"/>
              <a:t> in </a:t>
            </a:r>
            <a:r>
              <a:rPr lang="nl-NL" dirty="0" err="1"/>
              <a:t>this</a:t>
            </a:r>
            <a:r>
              <a:rPr lang="nl-NL" dirty="0"/>
              <a:t> workshop</a:t>
            </a:r>
          </a:p>
          <a:p>
            <a:endParaRPr lang="nl-NL" noProof="0" dirty="0"/>
          </a:p>
          <a:p>
            <a:r>
              <a:rPr lang="en-US" dirty="0">
                <a:hlinkClick r:id="rId2"/>
              </a:rPr>
              <a:t>github.com/JDVlist/</a:t>
            </a:r>
            <a:r>
              <a:rPr lang="en-US" dirty="0" err="1">
                <a:hlinkClick r:id="rId2"/>
              </a:rPr>
              <a:t>iot</a:t>
            </a:r>
            <a:r>
              <a:rPr lang="en-US" dirty="0">
                <a:hlinkClick r:id="rId2"/>
              </a:rPr>
              <a:t>-xiao-cursus</a:t>
            </a:r>
            <a:endParaRPr lang="en-US" dirty="0"/>
          </a:p>
          <a:p>
            <a:r>
              <a:rPr lang="en-US" dirty="0"/>
              <a:t>.md -&gt; open preview</a:t>
            </a:r>
          </a:p>
          <a:p>
            <a:r>
              <a:rPr lang="en-US" dirty="0"/>
              <a:t>Thanks to </a:t>
            </a:r>
            <a:r>
              <a:rPr lang="en-US" dirty="0" err="1"/>
              <a:t>Geonovum</a:t>
            </a:r>
            <a:r>
              <a:rPr lang="en-US" dirty="0"/>
              <a:t> </a:t>
            </a:r>
            <a:endParaRPr lang="en-US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40176B-5F71-013E-6E7E-E9B0BD571D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4682" y="482958"/>
            <a:ext cx="4328324" cy="3250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795890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BE96D-3D56-3FB3-C55D-9FC77AE72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Code </a:t>
            </a:r>
            <a:r>
              <a:rPr lang="nl-NL" dirty="0" err="1"/>
              <a:t>overview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CC70A0-6146-3A3A-3CA5-D2AD66CAD4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6201972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9F7D6-451A-E369-8D61-C593DC97A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Step 1: Blink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E36F7E-F825-096C-755E-24A297F5DD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Read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docs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87451742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0063F-5EA3-3EC2-462E-13A859F73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Setup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D8A19F-53FC-999F-FD81-F22CD69E36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noProof="0" dirty="0"/>
              <a:t>An overview</a:t>
            </a:r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E30E8BF5-2A2D-9346-320B-43BA481128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2660" y="6106751"/>
            <a:ext cx="2928730" cy="439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618226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D404A-D630-5C60-5E00-755D16633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9CBB98-2CC6-D863-2C97-F6DBF92D85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noProof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F804181-53A0-103F-55D5-207AC7F7C4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9718" y="517364"/>
            <a:ext cx="6230717" cy="573103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04A3711-473E-2C03-6442-F912EA7DA11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32" t="21031" r="74145" b="6765"/>
          <a:stretch>
            <a:fillRect/>
          </a:stretch>
        </p:blipFill>
        <p:spPr>
          <a:xfrm>
            <a:off x="390063" y="743450"/>
            <a:ext cx="3031290" cy="53710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54601F-74AB-05C0-167D-A5C634E93746}"/>
              </a:ext>
            </a:extLst>
          </p:cNvPr>
          <p:cNvSpPr txBox="1"/>
          <p:nvPr/>
        </p:nvSpPr>
        <p:spPr>
          <a:xfrm>
            <a:off x="9942286" y="2979783"/>
            <a:ext cx="16546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noProof="0" dirty="0"/>
              <a:t>+ GPS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0124D98-7011-42BE-FB1C-2CE3F44FCC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1817" y="3751742"/>
            <a:ext cx="2287342" cy="198659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686078E-1DB9-6E67-143C-5EBD4DF56F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68394" y="917310"/>
            <a:ext cx="2446987" cy="183524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D668D55-AC73-A325-68A2-1A9E858ACC9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5167" t="10224" r="22752" b="4517"/>
          <a:stretch>
            <a:fillRect/>
          </a:stretch>
        </p:blipFill>
        <p:spPr>
          <a:xfrm>
            <a:off x="7518134" y="3807566"/>
            <a:ext cx="1213546" cy="1986599"/>
          </a:xfrm>
          <a:prstGeom prst="rect">
            <a:avLst/>
          </a:prstGeom>
        </p:spPr>
      </p:pic>
      <p:pic>
        <p:nvPicPr>
          <p:cNvPr id="10" name="Picture 9" descr="Cablu de date Type-C PD18W, 1m Ugreen, negru, 60116">
            <a:extLst>
              <a:ext uri="{FF2B5EF4-FFF2-40B4-BE49-F238E27FC236}">
                <a16:creationId xmlns:a16="http://schemas.microsoft.com/office/drawing/2014/main" id="{94092994-98F2-223E-C81F-B56BF413C29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53887" y="809726"/>
            <a:ext cx="2034325" cy="203432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0DDEB8F-5E9F-E3D5-D17B-E5225C90CD19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b="11407"/>
          <a:stretch>
            <a:fillRect/>
          </a:stretch>
        </p:blipFill>
        <p:spPr>
          <a:xfrm>
            <a:off x="9750440" y="1287780"/>
            <a:ext cx="2038319" cy="1805811"/>
          </a:xfrm>
          <a:prstGeom prst="rect">
            <a:avLst/>
          </a:prstGeom>
        </p:spPr>
      </p:pic>
      <p:pic>
        <p:nvPicPr>
          <p:cNvPr id="14" name="Afbeelding 3">
            <a:extLst>
              <a:ext uri="{FF2B5EF4-FFF2-40B4-BE49-F238E27FC236}">
                <a16:creationId xmlns:a16="http://schemas.microsoft.com/office/drawing/2014/main" id="{C875CA0F-AE97-3372-673F-A769BAAEDD5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2660" y="6106751"/>
            <a:ext cx="2928730" cy="439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765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F491A-F499-42C8-41C0-08A581CF8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Sensor: AM2320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FE3493-A5BB-FF1D-A534-8A2C632D1EFA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n-US" sz="2000" b="1" noProof="0" dirty="0"/>
              <a:t>VDD</a:t>
            </a:r>
            <a:r>
              <a:rPr lang="en-US" sz="2000" noProof="0" dirty="0"/>
              <a:t>: positive power supply</a:t>
            </a:r>
          </a:p>
          <a:p>
            <a:r>
              <a:rPr lang="en-US" sz="2000" b="1" noProof="0" dirty="0"/>
              <a:t>GND</a:t>
            </a:r>
            <a:r>
              <a:rPr lang="en-US" sz="2000" noProof="0" dirty="0"/>
              <a:t>: ground</a:t>
            </a:r>
          </a:p>
          <a:p>
            <a:r>
              <a:rPr lang="en-US" sz="2000" b="1" noProof="0" dirty="0"/>
              <a:t>SDA</a:t>
            </a:r>
            <a:r>
              <a:rPr lang="en-US" sz="2000" noProof="0" dirty="0"/>
              <a:t>: the wire where the sensor sends and receives messages</a:t>
            </a:r>
          </a:p>
          <a:p>
            <a:r>
              <a:rPr lang="en-US" sz="2000" b="1" noProof="0" dirty="0"/>
              <a:t>SCL</a:t>
            </a:r>
            <a:r>
              <a:rPr lang="en-US" sz="2000" noProof="0" dirty="0"/>
              <a:t>: the wire that keeps the messages in rhythm, like a ticking clock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79F3853-EF1E-DBE3-0340-BB229C4E88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15942"/>
          <a:stretch>
            <a:fillRect/>
          </a:stretch>
        </p:blipFill>
        <p:spPr>
          <a:xfrm>
            <a:off x="5776309" y="1097280"/>
            <a:ext cx="5419974" cy="4237215"/>
          </a:xfrm>
          <a:prstGeom prst="rect">
            <a:avLst/>
          </a:prstGeom>
        </p:spPr>
      </p:pic>
      <p:pic>
        <p:nvPicPr>
          <p:cNvPr id="6" name="Afbeelding 3">
            <a:extLst>
              <a:ext uri="{FF2B5EF4-FFF2-40B4-BE49-F238E27FC236}">
                <a16:creationId xmlns:a16="http://schemas.microsoft.com/office/drawing/2014/main" id="{679F2643-E017-7108-D79D-DA3FF192A9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2660" y="6106751"/>
            <a:ext cx="2928730" cy="439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056999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B5F8C74-FF6E-5CA3-5F72-455248B9CA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10135"/>
          <a:stretch>
            <a:fillRect/>
          </a:stretch>
        </p:blipFill>
        <p:spPr>
          <a:xfrm>
            <a:off x="5434885" y="293969"/>
            <a:ext cx="6458754" cy="5804179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61DE5B-71A2-05D9-B5C3-AA20E9C65A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3000" y="2261530"/>
            <a:ext cx="3931920" cy="3017520"/>
          </a:xfrm>
        </p:spPr>
        <p:txBody>
          <a:bodyPr>
            <a:normAutofit/>
          </a:bodyPr>
          <a:lstStyle/>
          <a:p>
            <a:r>
              <a:rPr lang="en-US" sz="2000" b="1" noProof="0" dirty="0"/>
              <a:t>VCC</a:t>
            </a:r>
            <a:r>
              <a:rPr lang="en-US" sz="2000" noProof="0" dirty="0"/>
              <a:t>: plus power, like the + side of a battery     5 V</a:t>
            </a:r>
          </a:p>
          <a:p>
            <a:r>
              <a:rPr lang="en-US" sz="2000" b="1" noProof="0" dirty="0"/>
              <a:t>GND</a:t>
            </a:r>
            <a:r>
              <a:rPr lang="en-US" sz="2000" noProof="0" dirty="0"/>
              <a:t>: minus/ground, like the - side of a battery</a:t>
            </a:r>
          </a:p>
          <a:p>
            <a:r>
              <a:rPr lang="en-US" sz="2000" b="1" noProof="0" dirty="0"/>
              <a:t>TX</a:t>
            </a:r>
            <a:r>
              <a:rPr lang="en-US" sz="2000" noProof="0" dirty="0"/>
              <a:t>: the wire where the GPS talks out to your microcontroller</a:t>
            </a:r>
          </a:p>
          <a:p>
            <a:r>
              <a:rPr lang="en-US" sz="2000" b="1" noProof="0" dirty="0"/>
              <a:t>RX</a:t>
            </a:r>
            <a:r>
              <a:rPr lang="en-US" sz="2000" noProof="0" dirty="0"/>
              <a:t>: the wire where the GPS listens to your microcontroller</a:t>
            </a:r>
          </a:p>
        </p:txBody>
      </p:sp>
      <p:pic>
        <p:nvPicPr>
          <p:cNvPr id="7" name="Afbeelding 3">
            <a:extLst>
              <a:ext uri="{FF2B5EF4-FFF2-40B4-BE49-F238E27FC236}">
                <a16:creationId xmlns:a16="http://schemas.microsoft.com/office/drawing/2014/main" id="{669B5DD0-D458-6A1D-375E-B2EF605BAF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2660" y="6106751"/>
            <a:ext cx="2928730" cy="439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873119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4A62-1866-A66C-E619-A9C633AF1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GNSS </a:t>
            </a:r>
            <a:r>
              <a:rPr lang="nl-NL" dirty="0" err="1"/>
              <a:t>vs</a:t>
            </a:r>
            <a:r>
              <a:rPr lang="nl-NL" dirty="0"/>
              <a:t> GPS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4F6B42-266E-AE8B-DCE0-1B797FEC80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NL" sz="2400" b="1" dirty="0"/>
              <a:t>GNSS</a:t>
            </a:r>
            <a:r>
              <a:rPr lang="en-NL" sz="2400" dirty="0"/>
              <a:t> is the general name for satellite navigation systems.</a:t>
            </a:r>
          </a:p>
          <a:p>
            <a:r>
              <a:rPr lang="en-NL" sz="2400" b="1" dirty="0"/>
              <a:t>GPS</a:t>
            </a:r>
            <a:r>
              <a:rPr lang="en-NL" sz="2400" dirty="0"/>
              <a:t> is one specific GNSS system, made by the United States.</a:t>
            </a:r>
          </a:p>
          <a:p>
            <a:endParaRPr lang="nl-NL" sz="2400" dirty="0"/>
          </a:p>
          <a:p>
            <a:r>
              <a:rPr lang="en-NL" sz="2400" dirty="0"/>
              <a:t>Galileo: Europe</a:t>
            </a:r>
            <a:endParaRPr lang="en-GB" sz="2400" dirty="0"/>
          </a:p>
          <a:p>
            <a:r>
              <a:rPr lang="en-NL" sz="2400" dirty="0"/>
              <a:t>GLONASS: Russia</a:t>
            </a:r>
            <a:endParaRPr lang="en-GB" sz="2400" dirty="0"/>
          </a:p>
          <a:p>
            <a:r>
              <a:rPr lang="en-NL" sz="2400" dirty="0"/>
              <a:t>BeiDou: China</a:t>
            </a:r>
            <a:endParaRPr lang="nl-NL" sz="2400" dirty="0"/>
          </a:p>
        </p:txBody>
      </p:sp>
    </p:spTree>
    <p:extLst>
      <p:ext uri="{BB962C8B-B14F-4D97-AF65-F5344CB8AC3E}">
        <p14:creationId xmlns:p14="http://schemas.microsoft.com/office/powerpoint/2010/main" val="419962784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F10DD-67B1-538A-A154-BF6D01FB6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GeoJSON</a:t>
            </a:r>
            <a:endParaRPr lang="nl-NL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25F9B26-2E44-E947-F14F-9739C4F42D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67320" y="899909"/>
            <a:ext cx="4687294" cy="480531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38A2689-7754-171E-96ED-F23428E5C4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382" y="2176529"/>
            <a:ext cx="3482864" cy="313043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5D540C1-7B12-6391-FFDE-BDDFDD0806E7}"/>
              </a:ext>
            </a:extLst>
          </p:cNvPr>
          <p:cNvSpPr txBox="1"/>
          <p:nvPr/>
        </p:nvSpPr>
        <p:spPr>
          <a:xfrm>
            <a:off x="5667320" y="6063734"/>
            <a:ext cx="25693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/>
              <a:t>geojson.org</a:t>
            </a:r>
          </a:p>
        </p:txBody>
      </p:sp>
    </p:spTree>
    <p:extLst>
      <p:ext uri="{BB962C8B-B14F-4D97-AF65-F5344CB8AC3E}">
        <p14:creationId xmlns:p14="http://schemas.microsoft.com/office/powerpoint/2010/main" val="1841468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FDF2E-D522-C683-9B2E-5FF4995B1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Wifi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CA83B0-2350-B6F4-C51C-0A6C216F38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NL" dirty="0"/>
              <a:t>Wi-Fi lets the device connect to the internet without a cable.</a:t>
            </a:r>
          </a:p>
          <a:p>
            <a:r>
              <a:rPr lang="en-NL" dirty="0"/>
              <a:t>For our project, the microcontroller connects to a Wi-Fi network using:</a:t>
            </a:r>
            <a:endParaRPr lang="en-GB" dirty="0"/>
          </a:p>
          <a:p>
            <a:pPr lvl="1"/>
            <a:r>
              <a:rPr lang="en-US" dirty="0"/>
              <a:t>Network name: your Wi-Fi name</a:t>
            </a:r>
          </a:p>
          <a:p>
            <a:pPr lvl="1"/>
            <a:r>
              <a:rPr lang="en-US" dirty="0"/>
              <a:t>Password: your Wi-Fi password</a:t>
            </a:r>
            <a:endParaRPr lang="en-NL" dirty="0"/>
          </a:p>
          <a:p>
            <a:r>
              <a:rPr lang="en-NL" dirty="0"/>
              <a:t>Once connected, it can send data to the backend using HTTP.</a:t>
            </a:r>
          </a:p>
          <a:p>
            <a:r>
              <a:rPr lang="en-NL" dirty="0"/>
              <a:t>Simple idea: </a:t>
            </a:r>
            <a:r>
              <a:rPr lang="en-NL" b="1" dirty="0"/>
              <a:t>Wi-Fi gets the device online, HTTP sends the data.</a:t>
            </a:r>
            <a:endParaRPr lang="en-GB" b="1" dirty="0"/>
          </a:p>
          <a:p>
            <a:endParaRPr lang="en-GB" b="1" dirty="0"/>
          </a:p>
          <a:p>
            <a:r>
              <a:rPr lang="en-GB" dirty="0"/>
              <a:t>2.4 GHz </a:t>
            </a:r>
            <a:r>
              <a:rPr lang="en-GB" dirty="0" err="1"/>
              <a:t>Wifi</a:t>
            </a:r>
            <a:r>
              <a:rPr lang="en-GB" dirty="0"/>
              <a:t> needed</a:t>
            </a:r>
          </a:p>
          <a:p>
            <a:r>
              <a:rPr lang="en-GB" dirty="0"/>
              <a:t>XIAO ESP32 uses 5 GHz </a:t>
            </a:r>
            <a:r>
              <a:rPr lang="en-GB" dirty="0" err="1"/>
              <a:t>Wifi</a:t>
            </a:r>
            <a:endParaRPr lang="en-NL" dirty="0"/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04013096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24912-38F3-023A-903D-4FC12791A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WiFi</a:t>
            </a:r>
            <a:r>
              <a:rPr lang="nl-NL" dirty="0"/>
              <a:t> </a:t>
            </a:r>
            <a:r>
              <a:rPr lang="nl-NL" dirty="0" err="1"/>
              <a:t>Alternatives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EDBC50-FF6F-B92B-8AF4-335A55C991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NL" b="1" dirty="0" err="1"/>
              <a:t>LoRaWAN</a:t>
            </a:r>
            <a:r>
              <a:rPr lang="en-NL" dirty="0"/>
              <a:t>: very long range, very low power, small messages</a:t>
            </a:r>
            <a:endParaRPr lang="en-GB" dirty="0"/>
          </a:p>
          <a:p>
            <a:r>
              <a:rPr lang="en-NL" b="1" dirty="0"/>
              <a:t>Bluetooth Low Energy</a:t>
            </a:r>
            <a:r>
              <a:rPr lang="en-NL" dirty="0"/>
              <a:t>: short range, low power, good near a phone or gateway</a:t>
            </a:r>
            <a:endParaRPr lang="en-GB" dirty="0"/>
          </a:p>
          <a:p>
            <a:r>
              <a:rPr lang="en-NL" b="1" dirty="0"/>
              <a:t>Ethernet</a:t>
            </a:r>
            <a:r>
              <a:rPr lang="en-NL" dirty="0"/>
              <a:t>: wired, stable, no Wi-Fi password needed</a:t>
            </a:r>
            <a:endParaRPr lang="en-GB" dirty="0"/>
          </a:p>
          <a:p>
            <a:r>
              <a:rPr lang="en-NL" b="1" dirty="0"/>
              <a:t>Cellular 4G/5G</a:t>
            </a:r>
            <a:r>
              <a:rPr lang="en-NL" dirty="0"/>
              <a:t>: works almost anywhere with SIM/data plan, uses more power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6775713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3E46A-59D5-A6C9-60C9-631CF7FDC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HTTP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3FAD04-42E6-B491-FBD0-96D24F6CE4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NL" b="1" dirty="0"/>
              <a:t>URL</a:t>
            </a:r>
            <a:r>
              <a:rPr lang="en-NL" dirty="0"/>
              <a:t> says where it goes</a:t>
            </a:r>
            <a:r>
              <a:rPr lang="en-GB" dirty="0"/>
              <a:t>: backend</a:t>
            </a:r>
          </a:p>
          <a:p>
            <a:r>
              <a:rPr lang="en-GB" b="1" dirty="0"/>
              <a:t>B</a:t>
            </a:r>
            <a:r>
              <a:rPr lang="en-NL" b="1" dirty="0" err="1"/>
              <a:t>ody</a:t>
            </a:r>
            <a:r>
              <a:rPr lang="en-NL" dirty="0"/>
              <a:t> says what we send</a:t>
            </a:r>
            <a:r>
              <a:rPr lang="en-GB" dirty="0"/>
              <a:t>: </a:t>
            </a:r>
            <a:r>
              <a:rPr lang="en-GB" dirty="0" err="1"/>
              <a:t>GeoJSON</a:t>
            </a:r>
            <a:endParaRPr lang="en-GB" dirty="0"/>
          </a:p>
          <a:p>
            <a:endParaRPr lang="en-GB" dirty="0"/>
          </a:p>
          <a:p>
            <a:r>
              <a:rPr lang="en-GB" dirty="0"/>
              <a:t>We send a POST request</a:t>
            </a:r>
          </a:p>
          <a:p>
            <a:r>
              <a:rPr lang="en-GB" dirty="0"/>
              <a:t>Backend is not online</a:t>
            </a:r>
          </a:p>
          <a:p>
            <a:r>
              <a:rPr lang="en-GB" dirty="0"/>
              <a:t>So purely to get an idea</a:t>
            </a:r>
          </a:p>
          <a:p>
            <a:endParaRPr lang="en-GB" dirty="0"/>
          </a:p>
          <a:p>
            <a:r>
              <a:rPr lang="en-GB" dirty="0"/>
              <a:t>OGC API is next, but out of scope for this workshop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14310896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9FDDC-1DC0-7425-E33C-034E97F9C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Self-paced</a:t>
            </a:r>
            <a:endParaRPr lang="nl-N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E357EA-1394-A3FB-61C8-3775B6451D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Follow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repo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12279123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8FFD550-19C7-D3A4-CE17-4E230FA769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4382" y="930663"/>
            <a:ext cx="7903235" cy="499667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1CC1BB0-4DAF-288B-C101-194F575F5D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616"/>
          <a:stretch>
            <a:fillRect/>
          </a:stretch>
        </p:blipFill>
        <p:spPr>
          <a:xfrm>
            <a:off x="5008628" y="2035502"/>
            <a:ext cx="1004516" cy="1710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16335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F48242C-B5D2-7351-96F8-6C93E7876E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5332" y="481616"/>
            <a:ext cx="7941336" cy="589476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8449DE8-51CE-B568-2A31-C69DDFEA79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616"/>
          <a:stretch>
            <a:fillRect/>
          </a:stretch>
        </p:blipFill>
        <p:spPr>
          <a:xfrm>
            <a:off x="4870083" y="2430356"/>
            <a:ext cx="1004516" cy="1710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7875983"/>
      </p:ext>
    </p:extLst>
  </p:cSld>
  <p:clrMapOvr>
    <a:masterClrMapping/>
  </p:clrMapOvr>
</p:sld>
</file>

<file path=ppt/theme/theme1.xml><?xml version="1.0" encoding="utf-8"?>
<a:theme xmlns:a="http://schemas.openxmlformats.org/drawingml/2006/main" name="Basis">
  <a:themeElements>
    <a:clrScheme name="Basis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Custom 1">
      <a:majorFont>
        <a:latin typeface="Candara"/>
        <a:ea typeface=""/>
        <a:cs typeface=""/>
      </a:majorFont>
      <a:minorFont>
        <a:latin typeface="Candara"/>
        <a:ea typeface=""/>
        <a:cs typeface="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Basis">
    <a:dk1>
      <a:srgbClr val="000000"/>
    </a:dk1>
    <a:lt1>
      <a:srgbClr val="FFFFFF"/>
    </a:lt1>
    <a:dk2>
      <a:srgbClr val="565349"/>
    </a:dk2>
    <a:lt2>
      <a:srgbClr val="DDDDDD"/>
    </a:lt2>
    <a:accent1>
      <a:srgbClr val="A6B727"/>
    </a:accent1>
    <a:accent2>
      <a:srgbClr val="DF5327"/>
    </a:accent2>
    <a:accent3>
      <a:srgbClr val="FE9E00"/>
    </a:accent3>
    <a:accent4>
      <a:srgbClr val="418AB3"/>
    </a:accent4>
    <a:accent5>
      <a:srgbClr val="D7D447"/>
    </a:accent5>
    <a:accent6>
      <a:srgbClr val="818183"/>
    </a:accent6>
    <a:hlink>
      <a:srgbClr val="F59E00"/>
    </a:hlink>
    <a:folHlink>
      <a:srgbClr val="B2B2B2"/>
    </a:folHlink>
  </a:clrScheme>
</a:themeOverride>
</file>

<file path=ppt/theme/themeOverride2.xml><?xml version="1.0" encoding="utf-8"?>
<a:themeOverride xmlns:a="http://schemas.openxmlformats.org/drawingml/2006/main">
  <a:clrScheme name="Basis">
    <a:dk1>
      <a:srgbClr val="000000"/>
    </a:dk1>
    <a:lt1>
      <a:srgbClr val="FFFFFF"/>
    </a:lt1>
    <a:dk2>
      <a:srgbClr val="565349"/>
    </a:dk2>
    <a:lt2>
      <a:srgbClr val="DDDDDD"/>
    </a:lt2>
    <a:accent1>
      <a:srgbClr val="A6B727"/>
    </a:accent1>
    <a:accent2>
      <a:srgbClr val="DF5327"/>
    </a:accent2>
    <a:accent3>
      <a:srgbClr val="FE9E00"/>
    </a:accent3>
    <a:accent4>
      <a:srgbClr val="418AB3"/>
    </a:accent4>
    <a:accent5>
      <a:srgbClr val="D7D447"/>
    </a:accent5>
    <a:accent6>
      <a:srgbClr val="818183"/>
    </a:accent6>
    <a:hlink>
      <a:srgbClr val="F59E00"/>
    </a:hlink>
    <a:folHlink>
      <a:srgbClr val="B2B2B2"/>
    </a:folHlink>
  </a:clrScheme>
</a:themeOverride>
</file>

<file path=ppt/theme/themeOverride3.xml><?xml version="1.0" encoding="utf-8"?>
<a:themeOverride xmlns:a="http://schemas.openxmlformats.org/drawingml/2006/main">
  <a:clrScheme name="Basis">
    <a:dk1>
      <a:srgbClr val="000000"/>
    </a:dk1>
    <a:lt1>
      <a:srgbClr val="FFFFFF"/>
    </a:lt1>
    <a:dk2>
      <a:srgbClr val="565349"/>
    </a:dk2>
    <a:lt2>
      <a:srgbClr val="DDDDDD"/>
    </a:lt2>
    <a:accent1>
      <a:srgbClr val="A6B727"/>
    </a:accent1>
    <a:accent2>
      <a:srgbClr val="DF5327"/>
    </a:accent2>
    <a:accent3>
      <a:srgbClr val="FE9E00"/>
    </a:accent3>
    <a:accent4>
      <a:srgbClr val="418AB3"/>
    </a:accent4>
    <a:accent5>
      <a:srgbClr val="D7D447"/>
    </a:accent5>
    <a:accent6>
      <a:srgbClr val="818183"/>
    </a:accent6>
    <a:hlink>
      <a:srgbClr val="F59E00"/>
    </a:hlink>
    <a:folHlink>
      <a:srgbClr val="B2B2B2"/>
    </a:folHlink>
  </a:clrScheme>
</a:themeOverride>
</file>

<file path=ppt/theme/themeOverride4.xml><?xml version="1.0" encoding="utf-8"?>
<a:themeOverride xmlns:a="http://schemas.openxmlformats.org/drawingml/2006/main">
  <a:clrScheme name="Basis">
    <a:dk1>
      <a:srgbClr val="000000"/>
    </a:dk1>
    <a:lt1>
      <a:srgbClr val="FFFFFF"/>
    </a:lt1>
    <a:dk2>
      <a:srgbClr val="565349"/>
    </a:dk2>
    <a:lt2>
      <a:srgbClr val="DDDDDD"/>
    </a:lt2>
    <a:accent1>
      <a:srgbClr val="A6B727"/>
    </a:accent1>
    <a:accent2>
      <a:srgbClr val="DF5327"/>
    </a:accent2>
    <a:accent3>
      <a:srgbClr val="FE9E00"/>
    </a:accent3>
    <a:accent4>
      <a:srgbClr val="418AB3"/>
    </a:accent4>
    <a:accent5>
      <a:srgbClr val="D7D447"/>
    </a:accent5>
    <a:accent6>
      <a:srgbClr val="818183"/>
    </a:accent6>
    <a:hlink>
      <a:srgbClr val="F59E00"/>
    </a:hlink>
    <a:folHlink>
      <a:srgbClr val="B2B2B2"/>
    </a:folHlink>
  </a:clrScheme>
</a:themeOverride>
</file>

<file path=ppt/theme/themeOverride5.xml><?xml version="1.0" encoding="utf-8"?>
<a:themeOverride xmlns:a="http://schemas.openxmlformats.org/drawingml/2006/main">
  <a:clrScheme name="Basis">
    <a:dk1>
      <a:srgbClr val="000000"/>
    </a:dk1>
    <a:lt1>
      <a:srgbClr val="FFFFFF"/>
    </a:lt1>
    <a:dk2>
      <a:srgbClr val="565349"/>
    </a:dk2>
    <a:lt2>
      <a:srgbClr val="DDDDDD"/>
    </a:lt2>
    <a:accent1>
      <a:srgbClr val="A6B727"/>
    </a:accent1>
    <a:accent2>
      <a:srgbClr val="DF5327"/>
    </a:accent2>
    <a:accent3>
      <a:srgbClr val="FE9E00"/>
    </a:accent3>
    <a:accent4>
      <a:srgbClr val="418AB3"/>
    </a:accent4>
    <a:accent5>
      <a:srgbClr val="D7D447"/>
    </a:accent5>
    <a:accent6>
      <a:srgbClr val="818183"/>
    </a:accent6>
    <a:hlink>
      <a:srgbClr val="F59E00"/>
    </a:hlink>
    <a:folHlink>
      <a:srgbClr val="B2B2B2"/>
    </a:folHlink>
  </a:clrScheme>
</a:themeOverride>
</file>

<file path=ppt/theme/themeOverride6.xml><?xml version="1.0" encoding="utf-8"?>
<a:themeOverride xmlns:a="http://schemas.openxmlformats.org/drawingml/2006/main">
  <a:clrScheme name="Basis">
    <a:dk1>
      <a:srgbClr val="000000"/>
    </a:dk1>
    <a:lt1>
      <a:srgbClr val="FFFFFF"/>
    </a:lt1>
    <a:dk2>
      <a:srgbClr val="565349"/>
    </a:dk2>
    <a:lt2>
      <a:srgbClr val="DDDDDD"/>
    </a:lt2>
    <a:accent1>
      <a:srgbClr val="A6B727"/>
    </a:accent1>
    <a:accent2>
      <a:srgbClr val="DF5327"/>
    </a:accent2>
    <a:accent3>
      <a:srgbClr val="FE9E00"/>
    </a:accent3>
    <a:accent4>
      <a:srgbClr val="418AB3"/>
    </a:accent4>
    <a:accent5>
      <a:srgbClr val="D7D447"/>
    </a:accent5>
    <a:accent6>
      <a:srgbClr val="818183"/>
    </a:accent6>
    <a:hlink>
      <a:srgbClr val="F59E00"/>
    </a:hlink>
    <a:folHlink>
      <a:srgbClr val="B2B2B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750</Words>
  <Application>Microsoft Office PowerPoint</Application>
  <PresentationFormat>Widescreen</PresentationFormat>
  <Paragraphs>156</Paragraphs>
  <Slides>45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0" baseType="lpstr">
      <vt:lpstr>Arial</vt:lpstr>
      <vt:lpstr>Calibri</vt:lpstr>
      <vt:lpstr>Candara</vt:lpstr>
      <vt:lpstr>Corbel</vt:lpstr>
      <vt:lpstr>Basis</vt:lpstr>
      <vt:lpstr>From Sensor to GeoJSON:</vt:lpstr>
      <vt:lpstr>About me</vt:lpstr>
      <vt:lpstr>Planning</vt:lpstr>
      <vt:lpstr>This Workshop</vt:lpstr>
      <vt:lpstr>PowerPoint Presentation</vt:lpstr>
      <vt:lpstr>PowerPoint Presentation</vt:lpstr>
      <vt:lpstr>You </vt:lpstr>
      <vt:lpstr>Raise of hands</vt:lpstr>
      <vt:lpstr>IOT</vt:lpstr>
      <vt:lpstr>Why?</vt:lpstr>
      <vt:lpstr>IoT</vt:lpstr>
      <vt:lpstr>PowerPoint Presentation</vt:lpstr>
      <vt:lpstr>New courses</vt:lpstr>
      <vt:lpstr>Today: sneak peak</vt:lpstr>
      <vt:lpstr>PowerPoint Presentation</vt:lpstr>
      <vt:lpstr>Universal setup</vt:lpstr>
      <vt:lpstr>Not today</vt:lpstr>
      <vt:lpstr>XIAO</vt:lpstr>
      <vt:lpstr>PowerPoint Presentation</vt:lpstr>
      <vt:lpstr>XIAO ESP32 C3</vt:lpstr>
      <vt:lpstr>PowerPoint Presentation</vt:lpstr>
      <vt:lpstr>PowerPoint Presentation</vt:lpstr>
      <vt:lpstr>Simple setup</vt:lpstr>
      <vt:lpstr>Basic electronics</vt:lpstr>
      <vt:lpstr>LED XIAO setup</vt:lpstr>
      <vt:lpstr>Breadboard</vt:lpstr>
      <vt:lpstr>PowerPoint Presentation</vt:lpstr>
      <vt:lpstr>PowerPoint Presentation</vt:lpstr>
      <vt:lpstr>PowerPoint Presentation</vt:lpstr>
      <vt:lpstr>Programming</vt:lpstr>
      <vt:lpstr>Programming</vt:lpstr>
      <vt:lpstr>Code overview</vt:lpstr>
      <vt:lpstr>Step 1: Blink</vt:lpstr>
      <vt:lpstr>Setup</vt:lpstr>
      <vt:lpstr>PowerPoint Presentation</vt:lpstr>
      <vt:lpstr>Sensor: AM2320</vt:lpstr>
      <vt:lpstr>PowerPoint Presentation</vt:lpstr>
      <vt:lpstr>GNSS vs GPS</vt:lpstr>
      <vt:lpstr>GeoJSON</vt:lpstr>
      <vt:lpstr>Wifi</vt:lpstr>
      <vt:lpstr>WiFi Alternatives</vt:lpstr>
      <vt:lpstr>HTTP</vt:lpstr>
      <vt:lpstr>Self-paced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Joram van der Vlist</dc:creator>
  <cp:lastModifiedBy>Joram van der Vlist</cp:lastModifiedBy>
  <cp:revision>113</cp:revision>
  <dcterms:created xsi:type="dcterms:W3CDTF">2026-06-27T19:44:13Z</dcterms:created>
  <dcterms:modified xsi:type="dcterms:W3CDTF">2026-07-01T13:36:49Z</dcterms:modified>
</cp:coreProperties>
</file>