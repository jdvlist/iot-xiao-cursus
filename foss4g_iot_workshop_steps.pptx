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2df5392b2c4ef2" /><Relationship Type="http://schemas.openxmlformats.org/officeDocument/2006/relationships/extended-properties" Target="/docProps/app.xml" Id="Ra1e85a608c1b46b2" /><Relationship Type="http://schemas.openxmlformats.org/officeDocument/2006/relationships/officeDocument" Target="/ppt/presentation.xml" Id="R0d5b176501b242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f250dd885a4334"/>
  </p:sldMasterIdLst>
  <p:notesMasterIdLst>
    <p:notesMasterId xmlns:r="http://schemas.openxmlformats.org/officeDocument/2006/relationships" r:id="Re96225e4eac24a04"/>
  </p:notesMasterIdLst>
  <p:sldIdLst>
    <p:sldId xmlns:r="http://schemas.openxmlformats.org/officeDocument/2006/relationships" id="256" r:id="R7ca4933ebd934450"/>
    <p:sldId xmlns:r="http://schemas.openxmlformats.org/officeDocument/2006/relationships" id="257" r:id="R1432852ffd2a4dd4"/>
    <p:sldId xmlns:r="http://schemas.openxmlformats.org/officeDocument/2006/relationships" id="258" r:id="Red580ce1c9b54739"/>
    <p:sldId xmlns:r="http://schemas.openxmlformats.org/officeDocument/2006/relationships" id="259" r:id="Rb9d3aa39bf3a488b"/>
    <p:sldId xmlns:r="http://schemas.openxmlformats.org/officeDocument/2006/relationships" id="260" r:id="Rd585f4dec10c4bd4"/>
    <p:sldId xmlns:r="http://schemas.openxmlformats.org/officeDocument/2006/relationships" id="261" r:id="R60b3e665ec124ca3"/>
    <p:sldId xmlns:r="http://schemas.openxmlformats.org/officeDocument/2006/relationships" id="262" r:id="Ra71407f23a0543e9"/>
    <p:sldId xmlns:r="http://schemas.openxmlformats.org/officeDocument/2006/relationships" id="263" r:id="R293fab40ed504e27"/>
    <p:sldId xmlns:r="http://schemas.openxmlformats.org/officeDocument/2006/relationships" id="264" r:id="Rd05d643e762741ed"/>
    <p:sldId xmlns:r="http://schemas.openxmlformats.org/officeDocument/2006/relationships" id="265" r:id="Rcbecaf03d4824752"/>
    <p:sldId xmlns:r="http://schemas.openxmlformats.org/officeDocument/2006/relationships" id="266" r:id="Ra3c1fd54782b4e9e"/>
    <p:sldId xmlns:r="http://schemas.openxmlformats.org/officeDocument/2006/relationships" id="267" r:id="R4a13b5b8ff0c449e"/>
    <p:sldId xmlns:r="http://schemas.openxmlformats.org/officeDocument/2006/relationships" id="268" r:id="R3a4ef4a3f87447e5"/>
    <p:sldId xmlns:r="http://schemas.openxmlformats.org/officeDocument/2006/relationships" id="269" r:id="R7b5d66724a6845e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a735209c09464d" /><Relationship Type="http://schemas.openxmlformats.org/officeDocument/2006/relationships/slideMaster" Target="/ppt/slideMasters/slideMaster1.xml" Id="Redf250dd885a4334" /><Relationship Type="http://schemas.openxmlformats.org/officeDocument/2006/relationships/notesMaster" Target="/ppt/notesMasters/notesMaster1.xml" Id="Re96225e4eac24a04" /><Relationship Type="http://schemas.openxmlformats.org/officeDocument/2006/relationships/presProps" Target="/ppt/presProps.xml" Id="R14a1263646384785" /><Relationship Type="http://schemas.openxmlformats.org/officeDocument/2006/relationships/tableStyles" Target="/ppt/tableStyles.xml" Id="R44b6ccbb4d204990" /><Relationship Type="http://schemas.openxmlformats.org/officeDocument/2006/relationships/slide" Target="/ppt/slides/slide1.xml" Id="R7ca4933ebd934450" /><Relationship Type="http://schemas.openxmlformats.org/officeDocument/2006/relationships/slide" Target="/ppt/slides/slide2.xml" Id="R1432852ffd2a4dd4" /><Relationship Type="http://schemas.openxmlformats.org/officeDocument/2006/relationships/slide" Target="/ppt/slides/slide3.xml" Id="Red580ce1c9b54739" /><Relationship Type="http://schemas.openxmlformats.org/officeDocument/2006/relationships/slide" Target="/ppt/slides/slide4.xml" Id="Rb9d3aa39bf3a488b" /><Relationship Type="http://schemas.openxmlformats.org/officeDocument/2006/relationships/slide" Target="/ppt/slides/slide5.xml" Id="Rd585f4dec10c4bd4" /><Relationship Type="http://schemas.openxmlformats.org/officeDocument/2006/relationships/slide" Target="/ppt/slides/slide6.xml" Id="R60b3e665ec124ca3" /><Relationship Type="http://schemas.openxmlformats.org/officeDocument/2006/relationships/slide" Target="/ppt/slides/slide7.xml" Id="Ra71407f23a0543e9" /><Relationship Type="http://schemas.openxmlformats.org/officeDocument/2006/relationships/slide" Target="/ppt/slides/slide8.xml" Id="R293fab40ed504e27" /><Relationship Type="http://schemas.openxmlformats.org/officeDocument/2006/relationships/slide" Target="/ppt/slides/slide9.xml" Id="Rd05d643e762741ed" /><Relationship Type="http://schemas.openxmlformats.org/officeDocument/2006/relationships/slide" Target="/ppt/slides/slide10.xml" Id="Rcbecaf03d4824752" /><Relationship Type="http://schemas.openxmlformats.org/officeDocument/2006/relationships/slide" Target="/ppt/slides/slide11.xml" Id="Ra3c1fd54782b4e9e" /><Relationship Type="http://schemas.openxmlformats.org/officeDocument/2006/relationships/slide" Target="/ppt/slides/slide12.xml" Id="R4a13b5b8ff0c449e" /><Relationship Type="http://schemas.openxmlformats.org/officeDocument/2006/relationships/slide" Target="/ppt/slides/slide13.xml" Id="R3a4ef4a3f87447e5" /><Relationship Type="http://schemas.openxmlformats.org/officeDocument/2006/relationships/slide" Target="/ppt/slides/slide14.xml" Id="R7b5d66724a6845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66e419bad24d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FOSS4G IoT Workshop">
      <a:dk1>
        <a:srgbClr val="000000"/>
      </a:dk1>
      <a:lt1>
        <a:srgbClr val="FFFFFF"/>
      </a:lt1>
      <a:dk2>
        <a:srgbClr val="073B3A"/>
      </a:dk2>
      <a:lt2>
        <a:srgbClr val="EAF1F4"/>
      </a:lt2>
      <a:accent1>
        <a:srgbClr val="006D77"/>
      </a:accent1>
      <a:accent2>
        <a:srgbClr val="2EC4B6"/>
      </a:accent2>
      <a:accent3>
        <a:srgbClr val="FFB703"/>
      </a:accent3>
      <a:accent4>
        <a:srgbClr val="E76F51"/>
      </a:accent4>
      <a:accent5>
        <a:srgbClr val="3A7D44"/>
      </a:accent5>
      <a:accent6>
        <a:srgbClr val="6D597A"/>
      </a:accent6>
      <a:hlink>
        <a:srgbClr val="006D77"/>
      </a:hlink>
      <a:folHlink>
        <a:srgbClr val="6D597A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OSS4G IoT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c8b6aefa7c47ab" /><Relationship Type="http://schemas.openxmlformats.org/officeDocument/2006/relationships/notesMaster" Target="/ppt/notesMasters/notesMaster1.xml" Id="R17e353b15bea41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a9662b07fa4c54" /><Relationship Type="http://schemas.openxmlformats.org/officeDocument/2006/relationships/notesMaster" Target="/ppt/notesMasters/notesMaster1.xml" Id="Rf5102b7f420c4a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03f227edee43f1" /><Relationship Type="http://schemas.openxmlformats.org/officeDocument/2006/relationships/notesMaster" Target="/ppt/notesMasters/notesMaster1.xml" Id="R7abc5d0438bf4e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dfd59e55644ad3" /><Relationship Type="http://schemas.openxmlformats.org/officeDocument/2006/relationships/notesMaster" Target="/ppt/notesMasters/notesMaster1.xml" Id="R1f8f816f50ee41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c221b9ae4c42cb" /><Relationship Type="http://schemas.openxmlformats.org/officeDocument/2006/relationships/notesMaster" Target="/ppt/notesMasters/notesMaster1.xml" Id="R86717c9e715647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1a68f2c33a439a" /><Relationship Type="http://schemas.openxmlformats.org/officeDocument/2006/relationships/notesMaster" Target="/ppt/notesMasters/notesMaster1.xml" Id="R4f6582fc8cdc4a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437b850f4c43b0" /><Relationship Type="http://schemas.openxmlformats.org/officeDocument/2006/relationships/notesMaster" Target="/ppt/notesMasters/notesMaster1.xml" Id="R1c42d89e1f5544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cfcd6f49aa427c" /><Relationship Type="http://schemas.openxmlformats.org/officeDocument/2006/relationships/notesMaster" Target="/ppt/notesMasters/notesMaster1.xml" Id="Re9c36a8cb5864d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b35efbee53495a" /><Relationship Type="http://schemas.openxmlformats.org/officeDocument/2006/relationships/notesMaster" Target="/ppt/notesMasters/notesMaster1.xml" Id="R0d4049967db942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7c9a9720114fea" /><Relationship Type="http://schemas.openxmlformats.org/officeDocument/2006/relationships/notesMaster" Target="/ppt/notesMasters/notesMaster1.xml" Id="Rff98161ab4fd432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3065a99396949d2" /><Relationship Type="http://schemas.openxmlformats.org/officeDocument/2006/relationships/notesMaster" Target="/ppt/notesMasters/notesMaster1.xml" Id="R99c00e953ccd48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eb53db69d0f4669" /><Relationship Type="http://schemas.openxmlformats.org/officeDocument/2006/relationships/notesMaster" Target="/ppt/notesMasters/notesMaster1.xml" Id="Rcbfb6fcc4cc141f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8864e2656574172" /><Relationship Type="http://schemas.openxmlformats.org/officeDocument/2006/relationships/notesMaster" Target="/ppt/notesMasters/notesMaster1.xml" Id="R2df2a611dd8b497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e2599f83104430f" /><Relationship Type="http://schemas.openxmlformats.org/officeDocument/2006/relationships/notesMaster" Target="/ppt/notesMasters/notesMaster1.xml" Id="R14759572460045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34a5ed9a5c4f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bb5f63d2f84d4e" /><Relationship Type="http://schemas.openxmlformats.org/officeDocument/2006/relationships/slideLayout" Target="/ppt/slideLayouts/slideLayout1.xml" Id="R1afa724dd04b44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fa724dd04b44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FOSS4G IoT Workshop">
      <a:dk1>
        <a:srgbClr val="000000"/>
      </a:dk1>
      <a:lt1>
        <a:srgbClr val="FFFFFF"/>
      </a:lt1>
      <a:dk2>
        <a:srgbClr val="073B3A"/>
      </a:dk2>
      <a:lt2>
        <a:srgbClr val="EAF1F4"/>
      </a:lt2>
      <a:accent1>
        <a:srgbClr val="006D77"/>
      </a:accent1>
      <a:accent2>
        <a:srgbClr val="2EC4B6"/>
      </a:accent2>
      <a:accent3>
        <a:srgbClr val="FFB703"/>
      </a:accent3>
      <a:accent4>
        <a:srgbClr val="E76F51"/>
      </a:accent4>
      <a:accent5>
        <a:srgbClr val="3A7D44"/>
      </a:accent5>
      <a:accent6>
        <a:srgbClr val="6D597A"/>
      </a:accent6>
      <a:hlink>
        <a:srgbClr val="006D77"/>
      </a:hlink>
      <a:folHlink>
        <a:srgbClr val="6D597A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OSS4G IoT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50107539945e9" /><Relationship Type="http://schemas.openxmlformats.org/officeDocument/2006/relationships/notesSlide" Target="/ppt/notesSlides/notesSlide1.xml" Id="R61df2c45a21748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d31e3d21446f3" /><Relationship Type="http://schemas.openxmlformats.org/officeDocument/2006/relationships/notesSlide" Target="/ppt/notesSlides/notesSlide2.xml" Id="R1fca3de1d4b44b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70ff15d7c4e69" /><Relationship Type="http://schemas.openxmlformats.org/officeDocument/2006/relationships/notesSlide" Target="/ppt/notesSlides/notesSlide3.xml" Id="R97ccf65eee2e4e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a046a7af943e7" /><Relationship Type="http://schemas.openxmlformats.org/officeDocument/2006/relationships/notesSlide" Target="/ppt/notesSlides/notesSlide4.xml" Id="R1f22e7a6109244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273cd16a64048" /><Relationship Type="http://schemas.openxmlformats.org/officeDocument/2006/relationships/notesSlide" Target="/ppt/notesSlides/notesSlide5.xml" Id="Rcd93124a6c9548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29ad5dcef4f1d" /><Relationship Type="http://schemas.openxmlformats.org/officeDocument/2006/relationships/notesSlide" Target="/ppt/notesSlides/notesSlide6.xml" Id="Rc8e16d0ecd874d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d2b2ba74342bb" /><Relationship Type="http://schemas.openxmlformats.org/officeDocument/2006/relationships/notesSlide" Target="/ppt/notesSlides/notesSlide7.xml" Id="R32a308b2128747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ff91159654193" /><Relationship Type="http://schemas.openxmlformats.org/officeDocument/2006/relationships/notesSlide" Target="/ppt/notesSlides/notesSlide8.xml" Id="Rf2db5f3e44e441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2f367135b4e17" /><Relationship Type="http://schemas.openxmlformats.org/officeDocument/2006/relationships/notesSlide" Target="/ppt/notesSlides/notesSlide9.xml" Id="R21e9734707b640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1e17045014f78" /><Relationship Type="http://schemas.openxmlformats.org/officeDocument/2006/relationships/notesSlide" Target="/ppt/notesSlides/notesSlide10.xml" Id="R60319565670840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00955454d47ff" /><Relationship Type="http://schemas.openxmlformats.org/officeDocument/2006/relationships/notesSlide" Target="/ppt/notesSlides/notesSlide11.xml" Id="Rfc71733ff044441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a318a6c6a4376" /><Relationship Type="http://schemas.openxmlformats.org/officeDocument/2006/relationships/notesSlide" Target="/ppt/notesSlides/notesSlide12.xml" Id="Rcdbc8971eda14d7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57cce52814504" /><Relationship Type="http://schemas.openxmlformats.org/officeDocument/2006/relationships/notesSlide" Target="/ppt/notesSlides/notesSlide13.xml" Id="R2a14a88d206d465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c020fd48d4cd6" /><Relationship Type="http://schemas.openxmlformats.org/officeDocument/2006/relationships/notesSlide" Target="/ppt/notesSlides/notesSlide14.xml" Id="Rd0bb8033e6114e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3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18CE5E-ACB0-41FC-9DEB-7FAB39F9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B3A"/>
          </a:solidFill>
          <a:ln xmlns:a="http://schemas.openxmlformats.org/drawingml/2006/main" w="0">
            <a:solidFill>
              <a:srgbClr val="073B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55103-0DFA-4471-B3FF-F3C73A3E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1430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solidFill>
              <a:srgbClr val="0F8B8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876B6-548B-4C6E-B715-B74EDDFB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29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 w="0">
            <a:solidFill>
              <a:srgbClr val="FFB70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8EFD6-AD0A-4AC2-857A-0182AEDE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C4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C4B6"/>
                </a:solidFill>
                <a:latin typeface="Aptos"/>
                <a:ea typeface="Aptos"/>
                <a:cs typeface="Aptos"/>
              </a:rPr>
              <a:t>FOSS4G WORKSHOP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6AA7E-D0D6-4B56-BEA6-21995E8B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From a tiny Thing to geospatial data on the web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2B3EE0-0F29-4B1F-A6D0-82ABDF1B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685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FE8E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CFE8E3"/>
                </a:solidFill>
                <a:latin typeface="Aptos"/>
                <a:ea typeface="Aptos"/>
                <a:cs typeface="Aptos"/>
              </a:rPr>
              <a:t>An Arduino/XIAO ESP32-C3 path through sensors, GNSS, Wi-Fi, GeoJSON, and HTTP POST.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214D1B-7897-46BA-BDAD-B7C012B6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095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F3E"/>
          </a:solidFill>
          <a:ln xmlns:a="http://schemas.openxmlformats.org/drawingml/2006/main" w="0">
            <a:solidFill>
              <a:srgbClr val="103F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63A68-8380-4E42-A328-2F49B5CA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5F3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F3E8"/>
                </a:solidFill>
                <a:latin typeface="Aptos"/>
                <a:ea typeface="Aptos"/>
                <a:cs typeface="Aptos"/>
              </a:rPr>
              <a:t>Step1 -&gt; Step7 repo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C1D96A-E54A-47A7-A3F5-87F69711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FE8E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FE8E3"/>
                </a:solidFill>
                <a:latin typeface="Aptos"/>
                <a:ea typeface="Aptos"/>
                <a:cs typeface="Aptos"/>
              </a:rPr>
              <a:t>Editable deck generated from the current repository materials</a:t>
            </a:r>
          </a:p>
        </p:txBody>
      </p:sp>
    </p:spTree>
    <p:extLst>
      <p:ext uri="{BB962C8B-B14F-4D97-AF65-F5344CB8AC3E}">
        <p14:creationId xmlns:p14="http://schemas.microsoft.com/office/powerpoint/2010/main" val="5236436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77BE2F-1817-47E6-AFDA-EC79A538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6D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6D77"/>
                </a:solidFill>
                <a:latin typeface="Aptos"/>
                <a:ea typeface="Aptos"/>
                <a:cs typeface="Aptos"/>
              </a:rPr>
              <a:t>WORKSHOP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7ADDB-148F-4D14-B354-BC4894E9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7620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rPr>
              <a:t>Seven repo steps, one data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B0A3E-1FAB-451F-B105-CD999469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The step numbers on the slides match the current repository folders and sketches.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DEB71-1699-420D-B5E7-750F8B6C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2B827-6E03-4D19-BB4F-082F4B28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11620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D7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F9679-E9EB-48CB-A0DA-E974E6B4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47975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Step1</a:t>
            </a:r>
          </a:p>
          <a:p xmlns:a="http://schemas.openxmlformats.org/drawingml/2006/main">
            <a:pPr algn="ctr">
              <a:defRPr sz="12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0E023-8AC3-40C7-B030-B0DC1969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0289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6D7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610A77-6511-453C-B7AF-DD500D05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718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6D77"/>
          </a:solidFill>
          <a:ln xmlns:a="http://schemas.openxmlformats.org/drawingml/2006/main" w="0">
            <a:solidFill>
              <a:srgbClr val="006D7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27C7D8-66CC-4DB3-9042-8BEA401A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24150"/>
            <a:ext cx="11620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C4B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885A3B-CB99-4B56-9604-466C86CF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847975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Step2</a:t>
            </a:r>
          </a:p>
          <a:p xmlns:a="http://schemas.openxmlformats.org/drawingml/2006/main">
            <a:pPr algn="ctr">
              <a:defRPr sz="12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Log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74ECB-DA97-4C9F-ACB2-E26B9850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289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6D7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88309A-89B0-42A1-B476-973D6CE8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718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6D77"/>
          </a:solidFill>
          <a:ln xmlns:a="http://schemas.openxmlformats.org/drawingml/2006/main" w="0">
            <a:solidFill>
              <a:srgbClr val="006D7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551A23-8479-47AB-A1A6-5688ED14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24150"/>
            <a:ext cx="11620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B70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244547-3535-448E-9303-29C9579E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47975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Step3</a:t>
            </a:r>
          </a:p>
          <a:p xmlns:a="http://schemas.openxmlformats.org/drawingml/2006/main">
            <a:pPr algn="ctr">
              <a:defRPr sz="12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Sensor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134D4A-E161-4EF3-8B36-28802414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289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6D7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10CB49-2DEF-4B19-9865-8305816A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718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6D77"/>
          </a:solidFill>
          <a:ln xmlns:a="http://schemas.openxmlformats.org/drawingml/2006/main" w="0">
            <a:solidFill>
              <a:srgbClr val="006D7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CAA146-EB83-4AF8-92F7-D1794D70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24150"/>
            <a:ext cx="11620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A7D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ED739C-A12D-4740-BD78-A42258FE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47975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Step4</a:t>
            </a:r>
          </a:p>
          <a:p xmlns:a="http://schemas.openxmlformats.org/drawingml/2006/main">
            <a:pPr algn="ctr">
              <a:defRPr sz="12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GNSS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799C19-BFE6-4A68-AE96-3CAD31EF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289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6D7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9EABFF-3FFF-4890-9B62-A128E7FA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718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6D77"/>
          </a:solidFill>
          <a:ln xmlns:a="http://schemas.openxmlformats.org/drawingml/2006/main" w="0">
            <a:solidFill>
              <a:srgbClr val="006D7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CD5875-C23E-4133-AAE0-610D5EB0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24150"/>
            <a:ext cx="11620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D597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42AC14-18D4-4A86-B380-2A16E2A0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47975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Step5</a:t>
            </a:r>
          </a:p>
          <a:p xmlns:a="http://schemas.openxmlformats.org/drawingml/2006/main">
            <a:pPr algn="ctr">
              <a:defRPr sz="12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Wi-Fi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E89B65-0F7E-4555-89AF-7FD566D7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289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6D7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F8172D-0103-4412-B31C-87B839B2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718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6D77"/>
          </a:solidFill>
          <a:ln xmlns:a="http://schemas.openxmlformats.org/drawingml/2006/main" w="0">
            <a:solidFill>
              <a:srgbClr val="006D7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174CE0-A5DF-427E-8F11-CD206A90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24150"/>
            <a:ext cx="11620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6F5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D388C8-EC6C-4B1A-9A2F-06EE1108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47975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Step6</a:t>
            </a:r>
          </a:p>
          <a:p xmlns:a="http://schemas.openxmlformats.org/drawingml/2006/main">
            <a:pPr algn="ctr">
              <a:defRPr sz="12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GeoJSON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5F652D-E89C-4FE2-B481-AD4A31C5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289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6D7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6AD244-3823-431A-816A-78B426EC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718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6D77"/>
          </a:solidFill>
          <a:ln xmlns:a="http://schemas.openxmlformats.org/drawingml/2006/main" w="0">
            <a:solidFill>
              <a:srgbClr val="006D7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0C45F3-1096-4601-88A2-055A8DAF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24150"/>
            <a:ext cx="11620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D7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FE29C7-8681-4B3D-A2D7-782BB2CD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847975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Step7</a:t>
            </a:r>
          </a:p>
          <a:p xmlns:a="http://schemas.openxmlformats.org/drawingml/2006/main">
            <a:pPr algn="ctr">
              <a:defRPr sz="12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CFCC6E-1B5A-4D3A-9290-D5F91C90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3086100" cy="12001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FBAE46-144C-420D-8AAA-679DB0F1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77"/>
          </a:solidFill>
          <a:ln xmlns:a="http://schemas.openxmlformats.org/drawingml/2006/main" w="0">
            <a:solidFill>
              <a:srgbClr val="006D7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500389-3DA7-4778-8699-846DB08E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Teaching move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70D49D-4F10-4084-B70C-692CA42C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5295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Every step adds one capability to the same Thing.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81533F-15F2-402E-A4D5-5336788A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00500"/>
            <a:ext cx="3086100" cy="12001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2C98A3-109F-4C4E-BCEF-484186DE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005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 w="0">
            <a:solidFill>
              <a:srgbClr val="FFB70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8BA224-9AAD-4E37-87D9-A484D5DE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910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Participant rhythm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0C41DC-EFF1-4941-8B5D-B65D2556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55295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Upload, observe Serial Monitor, debug one thing, then move forward.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51C9BD-6222-4AAB-8AE6-4146A636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00500"/>
            <a:ext cx="3086100" cy="12001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8AD77A-C61A-4E52-BD18-38EF477B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005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5AFFCD-37B4-4438-9681-B3BC4542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910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FOSS4G lens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AB8C6C-CD71-4A94-A745-168021AA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5295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End with interoperable geospatial data that another service can consume.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3D34DD-D714-4BA2-83B1-DBEF53B0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iot-xiao-cursus / overview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B9D375-4A99-4F18-B0E2-43C98B63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579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FOSS4G workshop</a:t>
            </a:r>
          </a:p>
        </p:txBody>
      </p:sp>
    </p:spTree>
    <p:extLst>
      <p:ext uri="{BB962C8B-B14F-4D97-AF65-F5344CB8AC3E}">
        <p14:creationId xmlns:p14="http://schemas.microsoft.com/office/powerpoint/2010/main" val="7926453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4D8837-49D7-48B8-8EBA-0972B5C0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6D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6D77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374E0-7DDE-4B9D-B7C4-9E4E89FE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7620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rPr>
              <a:t>A tiny field device becomes a geospatial publisher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96071-7658-4D5B-B5E2-B43580E2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The technical shape is deliberately small, standards-friendly, and inspectable.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89AD2-14A4-4F9F-B4E3-41283C0F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162421-922A-410B-9C0E-B63DC808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428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B70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31E407-6CD9-4985-AC64-2FCD44F0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8132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Sensor</a:t>
            </a:r>
          </a:p>
          <a:p xmlns:a="http://schemas.openxmlformats.org/drawingml/2006/main">
            <a:pPr algn="ctr">
              <a:defRPr sz="12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EBB2B0-A297-4CC3-B3F5-E487DFC2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57500"/>
            <a:ext cx="16002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D7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AC7554-93BB-445D-B6FD-6B66537D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81325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XIAO</a:t>
            </a:r>
          </a:p>
          <a:p xmlns:a="http://schemas.openxmlformats.org/drawingml/2006/main">
            <a:pPr algn="ctr">
              <a:defRPr sz="12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ESP32-C3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1DAEA6-B1E0-4534-8FF0-74C17141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57500"/>
            <a:ext cx="1428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A7D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6EF3F5-0092-4B8D-8B4D-669C524D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98132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GNSS</a:t>
            </a:r>
          </a:p>
          <a:p xmlns:a="http://schemas.openxmlformats.org/drawingml/2006/main">
            <a:pPr algn="ctr">
              <a:defRPr sz="12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WGS 84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42B6B6-7C32-4D59-AB91-4109B365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57500"/>
            <a:ext cx="1428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D59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F59B68-C98A-4C69-A1D6-94DEFEF9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8132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Wi-Fi</a:t>
            </a:r>
          </a:p>
          <a:p xmlns:a="http://schemas.openxmlformats.org/drawingml/2006/main">
            <a:pPr algn="ctr">
              <a:defRPr sz="12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network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803718-CE14-4636-82B5-4D5CB4C5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57500"/>
            <a:ext cx="1619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6F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7AB3E0-793E-44DC-B177-1FB4AAC1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81325"/>
            <a:ext cx="139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GeoJSON</a:t>
            </a:r>
          </a:p>
          <a:p xmlns:a="http://schemas.openxmlformats.org/drawingml/2006/main">
            <a:pPr algn="ctr">
              <a:defRPr sz="12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Feature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D5301D-2F66-4AD8-B010-2F1110BB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623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6D7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DD2858-60DD-4A51-9750-94D48207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051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6D77"/>
          </a:solidFill>
          <a:ln xmlns:a="http://schemas.openxmlformats.org/drawingml/2006/main" w="0">
            <a:solidFill>
              <a:srgbClr val="006D7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AB29DA-4AD7-4E22-A88E-A11556F1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623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6D7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671138-4BB6-45F7-8BCB-A1292C52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051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6D77"/>
          </a:solidFill>
          <a:ln xmlns:a="http://schemas.openxmlformats.org/drawingml/2006/main" w="0">
            <a:solidFill>
              <a:srgbClr val="006D7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9CF71D-C884-4289-8407-65454380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623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6D7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6CC5EC-D797-4485-81F4-CCDA0113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051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6D77"/>
          </a:solidFill>
          <a:ln xmlns:a="http://schemas.openxmlformats.org/drawingml/2006/main" w="0">
            <a:solidFill>
              <a:srgbClr val="006D7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B60D5A-6294-4FA2-B714-FC738685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6D7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E76360-043D-484C-AFBD-453A291C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051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6D77"/>
          </a:solidFill>
          <a:ln xmlns:a="http://schemas.openxmlformats.org/drawingml/2006/main" w="0">
            <a:solidFill>
              <a:srgbClr val="006D7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9FE475-8F3F-4E84-8672-8C7E1A8A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481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6D7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6D77"/>
                </a:solidFill>
                <a:latin typeface="Aptos"/>
                <a:ea typeface="Aptos"/>
                <a:cs typeface="Aptos"/>
              </a:rPr>
              <a:t>HTTP POST -&gt; backend / measurements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0CC9FD-381D-424F-8D4B-A122D5AC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43815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B1F22"/>
          </a:solidFill>
          <a:ln xmlns:a="http://schemas.openxmlformats.org/drawingml/2006/main" w="0">
            <a:solidFill>
              <a:srgbClr val="0B1F2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28278D-28B6-45D2-B4B0-69AA693A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40386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  "type": "Feature",</a:t>
            </a:r>
          </a:p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  "geometry": { "type": "Point" },</a:t>
            </a:r>
          </a:p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  "properties": { "value": 21.5 }</a:t>
            </a:r>
          </a:p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44054E-85C7-4B64-A8CD-904882B5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76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solidFill>
              <a:srgbClr val="2EC4B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15B195-98E5-485A-9ACE-E61EF5A6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005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No hidden cloud magic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18B413-FE8E-43B5-B7C6-32C2F9BA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95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solidFill>
              <a:srgbClr val="2EC4B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AC13BD-9975-4BFD-968D-271A4E86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196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Serial output makes each layer visible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332B4F-CA5D-4E2E-A7F4-5FC6C7BF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14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solidFill>
              <a:srgbClr val="2EC4B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CED691-B9DF-40DA-925F-75E90BD1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387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GeoJSON keeps the location model portable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8B3E40-D115-49B6-B72B-2D7B1EBF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iot-xiao-cursus / architecture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B10853-3BCE-4457-90D9-2952EEDF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579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FOSS4G workshop</a:t>
            </a:r>
          </a:p>
        </p:txBody>
      </p:sp>
    </p:spTree>
    <p:extLst>
      <p:ext uri="{BB962C8B-B14F-4D97-AF65-F5344CB8AC3E}">
        <p14:creationId xmlns:p14="http://schemas.microsoft.com/office/powerpoint/2010/main" val="16419411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10135A-3016-42E3-8394-D0C0CEF8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6D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6D77"/>
                </a:solidFill>
                <a:latin typeface="Aptos"/>
                <a:ea typeface="Aptos"/>
                <a:cs typeface="Aptos"/>
              </a:rPr>
              <a:t>STEP1_SETUP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C497A-9BFD-4165-94CA-7EDFB256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7620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rPr>
              <a:t>Prepare the board and the mental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44EB3-61A9-4E5C-A60A-0CF38B8E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Arduino IDE, XIAO ESP32-C3, setup()/loop(), and the first upload.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1E7A3-9776-4125-B5D6-49B82798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89D32-3B47-41FC-B849-8CACC773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276600" cy="156210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2E088-2110-443D-8A44-39677F90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77"/>
          </a:solidFill>
          <a:ln xmlns:a="http://schemas.openxmlformats.org/drawingml/2006/main" w="0">
            <a:solidFill>
              <a:srgbClr val="006D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FB1B3F-C37B-4B72-8875-926B4494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Hardware target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6DAF8E-A1D8-4174-B6DA-D58BF524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43200"/>
            <a:ext cx="2876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Seeed Studio XIAO ESP32-C3: 3.3V I/O, Wi-Fi + Bluetooth, compact enough for workshop tables.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BF71E-0FDB-418F-B95A-800E2944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90750"/>
            <a:ext cx="3276600" cy="156210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21706-9A36-4D23-AD35-F9B436C4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9075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 w="0">
            <a:solidFill>
              <a:srgbClr val="FFB70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8CA1FE-B2E0-4342-9FA6-35AA391A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812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IDE setup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74AFD-308F-4C5F-8A7C-05AFB1DB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43200"/>
            <a:ext cx="2876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Install Arduino IDE, add ESP32 board support, select XIAO_ESP32C3 and the USB serial port.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AE1401-5A55-4F70-BB91-115C66FC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3276600" cy="156210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17AD68-ABEF-414A-B3CC-5F4A5CE3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D44"/>
          </a:solidFill>
          <a:ln xmlns:a="http://schemas.openxmlformats.org/drawingml/2006/main" w="0">
            <a:solidFill>
              <a:srgbClr val="3A7D4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BAF5E2-0748-47F8-BF29-57EF3963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812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Programming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051FDE-6B77-477E-94C5-63B8A25E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43200"/>
            <a:ext cx="2876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Participants see the Arduino abstraction: setup() once, loop() forever.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F88EEF-3EE0-4162-BBB4-4E3E0BF7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152900"/>
            <a:ext cx="79629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0B1F22"/>
          </a:solidFill>
          <a:ln xmlns:a="http://schemas.openxmlformats.org/drawingml/2006/main" w="0">
            <a:solidFill>
              <a:srgbClr val="0B1F2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BB0AA8-0B6B-4F58-BD92-0B1ACDDC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7620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void setup() {</a:t>
            </a:r>
          </a:p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  pinMode(LED_NOTBUILTIN, OUTPUT);</a:t>
            </a:r>
          </a:p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void loop() {</a:t>
            </a:r>
          </a:p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  digitalWrite(LED_NOTBUILTIN, HIGH);</a:t>
            </a:r>
          </a:p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  delay(1000);</a:t>
            </a:r>
          </a:p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E145C4-561D-4936-AB79-0B2EE100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iot-xiao-cursus / Step1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A47A33-674E-44DA-9947-C65FDD7E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579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FOSS4G workshop</a:t>
            </a:r>
          </a:p>
        </p:txBody>
      </p:sp>
    </p:spTree>
    <p:extLst>
      <p:ext uri="{BB962C8B-B14F-4D97-AF65-F5344CB8AC3E}">
        <p14:creationId xmlns:p14="http://schemas.microsoft.com/office/powerpoint/2010/main" val="15836541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2DD04C-9631-4076-BF61-3C2707CB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6D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6D77"/>
                </a:solidFill>
                <a:latin typeface="Aptos"/>
                <a:ea typeface="Aptos"/>
                <a:cs typeface="Aptos"/>
              </a:rPr>
              <a:t>STEP2_LOG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CE8EA-37FF-437E-8F43-36D56964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7620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rPr>
              <a:t>Make the invisible board speak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15DCE-46CA-498D-BE29-1F16DAC9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Serial Monitor becomes the workshop microscope.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638D5C-21FB-4B77-A28B-749F60D4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DE959-0BDD-4CCC-9666-E66B31B2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4953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B1F22"/>
          </a:solidFill>
          <a:ln xmlns:a="http://schemas.openxmlformats.org/drawingml/2006/main" w="0">
            <a:solidFill>
              <a:srgbClr val="0B1F2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90E2C5-0E56-4272-88A6-7DA3D273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4610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Serial.begin(115200);</a:t>
            </a:r>
          </a:p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uint64_t chipid = ESP.getEfuseMac();</a:t>
            </a:r>
          </a:p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Serial.println(mac2String((byte*)&amp;chipid));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DE884E-39C1-4A07-BD91-FB4456B1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43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solidFill>
              <a:srgbClr val="2EC4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7EED8-7F8D-42AE-87F9-46685A27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66950"/>
            <a:ext cx="396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Open Tools &gt; Serial Monitor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C46EF-2687-45A9-9F30-6599A703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solidFill>
              <a:srgbClr val="2EC4B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93567-340E-4C5F-81A9-63DA79B2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05100"/>
            <a:ext cx="396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Confirm baud rate: 115200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569B24-9492-48CB-B585-4AC22A1C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solidFill>
              <a:srgbClr val="2EC4B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A94681-7B87-4ED3-81FF-B565275D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43250"/>
            <a:ext cx="396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Read the unique MAC address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88EC38-4CCE-45F2-8153-3C0D64F5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57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solidFill>
              <a:srgbClr val="2EC4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0A1B86-3BB8-476C-8A94-46B112AD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81400"/>
            <a:ext cx="396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Match the last bytes to the sticker on the board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EB1B27-97EA-48B8-87FD-C8301D9A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91000"/>
            <a:ext cx="430530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DC55A0-537D-4375-BF85-1D1D7353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9100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solidFill>
              <a:srgbClr val="2EC4B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7B707E-0B55-4A7D-9CB8-CAF4F7BF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815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6E2C5D-E709-4AEF-B1B6-2D3B00CE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4345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Device identity is the first bridge from hardware to data infrastructure. Each Thing needs a stable way to be recognized.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F3A5C9-0A92-4365-87BD-EE548805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91000"/>
            <a:ext cx="430530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9FF513-2AE2-4AB4-92B0-1BA33947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9100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 w="0">
            <a:solidFill>
              <a:srgbClr val="FFB70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F5CA60-885B-4BF0-A423-5D0F3AD6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815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Teaching cue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E56854-99EE-4AFD-8D05-3848BF3F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4345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When participants see text from the board, the loop between code, hardware, and observation clicks.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5C22C4-3D23-4159-BD5D-506ECC12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iot-xiao-cursus / Step2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7D64D4-B11D-4861-9AC0-2121320D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579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FOSS4G workshop</a:t>
            </a:r>
          </a:p>
        </p:txBody>
      </p:sp>
    </p:spTree>
    <p:extLst>
      <p:ext uri="{BB962C8B-B14F-4D97-AF65-F5344CB8AC3E}">
        <p14:creationId xmlns:p14="http://schemas.microsoft.com/office/powerpoint/2010/main" val="4828457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16BC47-8259-4AF3-924B-7AC9ACA6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6D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6D77"/>
                </a:solidFill>
                <a:latin typeface="Aptos"/>
                <a:ea typeface="Aptos"/>
                <a:cs typeface="Aptos"/>
              </a:rPr>
              <a:t>STEP3_SENSOR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04F17-6A09-427D-8583-BCC3AC27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7620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rPr>
              <a:t>Attach reality to the Thing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94EF8-B7D9-4B06-98F0-EBD291B9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A sensor adds the first measurement value, but wiring discipline comes first.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D5579-5757-4E41-987C-AA3EA0BB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12865C-3459-4107-B7DE-88CD56C0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95275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AEBF3-BD89-4BE8-A2BC-70D1F8EF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C1FDEA-BFD8-460A-878E-261BD3FB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Safety first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29CEFB-ADC9-47F3-B55C-0E9267DA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43200"/>
            <a:ext cx="2552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Disconnect USB before wiring. Never connect 5V directly to GND.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3FD646-8A4C-47BB-9396-78CFEDE7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90750"/>
            <a:ext cx="295275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7A6994-0674-4348-AC8B-AD6B12AD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9075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77"/>
          </a:solidFill>
          <a:ln xmlns:a="http://schemas.openxmlformats.org/drawingml/2006/main" w="0">
            <a:solidFill>
              <a:srgbClr val="006D7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1248BD-4B0B-4B8B-BFD9-B27E85AE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812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Breadboard basics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B8CD1D-0E17-4019-9C3E-BE50682C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43200"/>
            <a:ext cx="2552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Use jumpers for VCC and GND. Use signal wires for the sensor protocol.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D54091-BBD6-4F94-B8CC-73E03A46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90750"/>
            <a:ext cx="295275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62B898-0BC5-4121-B91E-527B7671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9075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D44"/>
          </a:solidFill>
          <a:ln xmlns:a="http://schemas.openxmlformats.org/drawingml/2006/main" w="0">
            <a:solidFill>
              <a:srgbClr val="3A7D4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ECF0C8-F00D-4C38-AAA2-C998BD5E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Protocol choices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7E69D6-538E-437E-B610-E4C0BF46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43200"/>
            <a:ext cx="2552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The course can use analog voltage, digital signals, or I2C sensors.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0C586B-7A8D-4399-9290-DADC2B1B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095750"/>
            <a:ext cx="83439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B1F22"/>
          </a:solidFill>
          <a:ln xmlns:a="http://schemas.openxmlformats.org/drawingml/2006/main" w="0">
            <a:solidFill>
              <a:srgbClr val="0B1F2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B0E7D3-6A66-4F7C-B61F-3F25A514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48150"/>
            <a:ext cx="8001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// Choose one sensor header</a:t>
            </a:r>
          </a:p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#include "../sensors/AM-2320.h"</a:t>
            </a:r>
          </a:p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// #include "../sensors/dummy_sensor.h"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float temperature = getTemperature();</a:t>
            </a:r>
          </a:p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float humidity = getHumidity();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A74EDB-F8CC-498D-9AEA-3946A840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iot-xiao-cursus / Step3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420679-641B-41D4-A8EC-0887A9C4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579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FOSS4G workshop</a:t>
            </a:r>
          </a:p>
        </p:txBody>
      </p:sp>
    </p:spTree>
    <p:extLst>
      <p:ext uri="{BB962C8B-B14F-4D97-AF65-F5344CB8AC3E}">
        <p14:creationId xmlns:p14="http://schemas.microsoft.com/office/powerpoint/2010/main" val="11646840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64E5F8-0C9A-4BF4-AB0D-513BC869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6D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6D77"/>
                </a:solidFill>
                <a:latin typeface="Aptos"/>
                <a:ea typeface="Aptos"/>
                <a:cs typeface="Aptos"/>
              </a:rPr>
              <a:t>STEP4_GNSS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7A169-CA82-40BE-9684-AAFC7161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7620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rPr>
              <a:t>Turn a sensor node into a location-aware Thing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5DCEA-36D0-475E-B263-36C95C11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The GNSS module returns WGS 84 latitude and longitude when it has a valid fix.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27510E-1F27-4ACB-9236-E38EEFAD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890DE-5718-4601-AF46-81EFC06B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3905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B1F22"/>
          </a:solidFill>
          <a:ln xmlns:a="http://schemas.openxmlformats.org/drawingml/2006/main" w="0">
            <a:solidFill>
              <a:srgbClr val="0B1F2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53FC0-4A79-4FC5-91BA-A0AE0EF9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33650"/>
            <a:ext cx="3562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GNSS VCC  -&gt; XIAO 5V</a:t>
            </a:r>
          </a:p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GNSS GND  -&gt; XIAO GND</a:t>
            </a:r>
          </a:p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GNSS TX   -&gt; XIAO D7 / RX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16C6DA-1530-4FC0-98AC-E8F92FF5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3905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1F22"/>
          </a:solidFill>
          <a:ln xmlns:a="http://schemas.openxmlformats.org/drawingml/2006/main" w="0">
            <a:solidFill>
              <a:srgbClr val="0B1F2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1BAF1-F75D-46FC-B270-7ECF577E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14800"/>
            <a:ext cx="3562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Fix: yes</a:t>
            </a:r>
          </a:p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Status: valid GNSS fix</a:t>
            </a:r>
          </a:p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Latitude: 52.110352</a:t>
            </a:r>
          </a:p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Longitude: 4.897106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8184FB-05DB-4922-A6C7-B98A8569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266950"/>
            <a:ext cx="272415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DF9FB4-7FF5-4466-9B26-336A1442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26695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77"/>
          </a:solidFill>
          <a:ln xmlns:a="http://schemas.openxmlformats.org/drawingml/2006/main" w="0">
            <a:solidFill>
              <a:srgbClr val="006D7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1A1DBA-0FB7-4FEC-9711-A6AD5072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574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Core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43F35-E875-4FBF-84D2-4F3F58AC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1940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TX sends, RX receives. The GNSS module talks; the XIAO listens.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B55CF7-81CB-44E7-91CD-FDFF14A9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66950"/>
            <a:ext cx="272415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5098F6-0AF5-4047-8708-4F1F916F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6695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 w="0">
            <a:solidFill>
              <a:srgbClr val="FFB70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FF6A8D-DE1A-496A-A90E-C92CA47D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574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Debug signal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5331D8-667B-4E27-A59F-3C064B55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1940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Chars processed tells you whether serial data arrives. Fix: yes tells you whether coordinates are valid.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44E296-D940-4B2A-8F52-B55ADDEA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038600"/>
            <a:ext cx="582930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9319A8-2125-408E-94A9-D738062A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03860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D44"/>
          </a:solidFill>
          <a:ln xmlns:a="http://schemas.openxmlformats.org/drawingml/2006/main" w="0">
            <a:solidFill>
              <a:srgbClr val="3A7D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77E336-0A6A-485E-BB04-8CED2FAE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22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GeoJSON preview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10F4E0-FBBE-4196-BD68-D6E8BAC5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591050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Later, GeoJSON will use [longitude, latitude], not the conversational latitude/longitude order.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57D78A-D4B7-4522-9FF7-DAB49171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iot-xiao-cursus / Step4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3CDDAD-6B8E-4FA0-AA28-7FD83EE8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579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FOSS4G workshop</a:t>
            </a:r>
          </a:p>
        </p:txBody>
      </p:sp>
    </p:spTree>
    <p:extLst>
      <p:ext uri="{BB962C8B-B14F-4D97-AF65-F5344CB8AC3E}">
        <p14:creationId xmlns:p14="http://schemas.microsoft.com/office/powerpoint/2010/main" val="19195024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D64DEF-404C-48BA-8738-E575BCD8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6D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6D77"/>
                </a:solidFill>
                <a:latin typeface="Aptos"/>
                <a:ea typeface="Aptos"/>
                <a:cs typeface="Aptos"/>
              </a:rPr>
              <a:t>STEP5_WIFI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2C29A-079E-4A93-8EF9-00545F9F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7620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rPr>
              <a:t>Give the Thing a network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3AA025-7983-47B6-B616-29669034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The ESP32-C3 Wi-Fi stack turns local measurements into connected measurements.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D137C4-C516-438A-B8D4-878CB2CB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C5CA1-35A8-43FD-A95A-DD673049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4857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B1F22"/>
          </a:solidFill>
          <a:ln xmlns:a="http://schemas.openxmlformats.org/drawingml/2006/main" w="0">
            <a:solidFill>
              <a:srgbClr val="0B1F2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CE9298-9DFE-4148-80BB-D5AA7A73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4514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#pragma once</a:t>
            </a:r>
          </a:p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#define SECRET_SSID "iot-workshop"</a:t>
            </a:r>
          </a:p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#define SECRET_PASS "********"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F4A06-BFB4-45F1-988B-6A12E286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4857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0B1F22"/>
          </a:solidFill>
          <a:ln xmlns:a="http://schemas.openxmlformats.org/drawingml/2006/main" w="0">
            <a:solidFill>
              <a:srgbClr val="0B1F2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6F730A-3B15-42B2-A59D-EC766E03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4514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[WiFi] Connected</a:t>
            </a:r>
          </a:p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[WiFi] IP address      : 192.168.1.113</a:t>
            </a:r>
          </a:p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[WiFi] Signal strength : -42 dBm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EA8A1C-227F-4C5D-A3FE-63F898B8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33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solidFill>
              <a:srgbClr val="2EC4B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FE04D1-55CA-4C67-869D-EBEE2E53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574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Keep credentials out of Git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A10F62-137E-469C-9B43-1397E301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90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solidFill>
              <a:srgbClr val="2EC4B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2392D3-4351-4E6B-BC9B-944B7CDE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146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Use 2.4 GHz networks for compatibility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D83EF3-9E87-4B0D-8347-E427F15F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48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solidFill>
              <a:srgbClr val="2EC4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1E43F6-FF3C-4CCB-92B1-A94AF837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718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Scan nearby SSIDs when debugging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6BBAAE-7ABD-4C53-A1CF-93BA1829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05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solidFill>
              <a:srgbClr val="2EC4B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C52C9F-61C8-430D-B722-F952342A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290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Print status, IP, gateway, DNS, and RSSI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31ADC4-0A41-4A21-BFA4-7267D476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iot-xiao-cursus / Step5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FA1080-41DD-4ADE-98FD-4232D210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579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FOSS4G workshop</a:t>
            </a:r>
          </a:p>
        </p:txBody>
      </p:sp>
    </p:spTree>
    <p:extLst>
      <p:ext uri="{BB962C8B-B14F-4D97-AF65-F5344CB8AC3E}">
        <p14:creationId xmlns:p14="http://schemas.microsoft.com/office/powerpoint/2010/main" val="4791173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5D13C0-60A9-4085-8210-8141606A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6D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6D77"/>
                </a:solidFill>
                <a:latin typeface="Aptos"/>
                <a:ea typeface="Aptos"/>
                <a:cs typeface="Aptos"/>
              </a:rPr>
              <a:t>STEP6_GEOJSON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E028F-5F7E-44A3-9E24-ABA94EC2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7620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rPr>
              <a:t>Assemble an interoperable measurement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8146EF-D675-4588-9D66-EDDC7A0B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Sensor + GNSS + Wi-Fi status becomes one GeoJSON Feature.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0E948-8083-4111-B3D9-9C9BC3A4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2772A-E67C-413C-8ADE-B181668A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7048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F22"/>
          </a:solidFill>
          <a:ln xmlns:a="http://schemas.openxmlformats.org/drawingml/2006/main" w="0">
            <a:solidFill>
              <a:srgbClr val="0B1F2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5162C-F338-4C9C-8FC7-4B1155FB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6705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GeoJsonMeasurement measurement = getCurrentMeasurement();</a:t>
            </a:r>
          </a:p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String geoJson = buildGeoJson(measurement);</a:t>
            </a:r>
          </a:p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Serial.println(geoJson);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3F7FD-CCD5-446E-A6AB-24B4285B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704850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0B1F22"/>
          </a:solidFill>
          <a:ln xmlns:a="http://schemas.openxmlformats.org/drawingml/2006/main" w="0">
            <a:solidFill>
              <a:srgbClr val="0B1F2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DF4FD5-0A6C-4918-8871-71415DA4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24300"/>
            <a:ext cx="67056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  "type": "Feature",</a:t>
            </a:r>
          </a:p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  "geometry": {</a:t>
            </a:r>
          </a:p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    "type": "Point",</a:t>
            </a:r>
          </a:p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    "coordinates": [4.897106, 52.110352]</a:t>
            </a:r>
          </a:p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  },</a:t>
            </a:r>
          </a:p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  "properties": { "value": 21.5, "unit": "C" }</a:t>
            </a:r>
          </a:p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8C30A7-08FC-4E0B-863E-8D8CA0AF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43150"/>
            <a:ext cx="266700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94554F-414F-4A5F-BA2F-317FFCD3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431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77"/>
          </a:solidFill>
          <a:ln xmlns:a="http://schemas.openxmlformats.org/drawingml/2006/main" w="0">
            <a:solidFill>
              <a:srgbClr val="006D7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AF8F83-1283-48A5-B350-CAE2DA40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336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Design choice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AFF78-D92E-4ABF-9988-D1312A3D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26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The .ino shows where data comes from; helpers own reusable formatting and device services.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E7A5F7-D286-456F-88CE-ADFA9DF6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266700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957648-E9CC-4D95-AA60-85FD1D94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 w="0">
            <a:solidFill>
              <a:srgbClr val="FFB70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E9FC2B-176B-47F2-AC60-BEF101D4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No fix?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866298-CE6F-4FE9-986B-46E91DA9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48200"/>
            <a:ext cx="226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Use geometry: null while still reporting sensor and debug properties.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FE0213-1BFF-4DEB-8955-B2A0AD35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iot-xiao-cursus / Step6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E9AB62-0E12-4EF7-8189-395B8593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579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FOSS4G workshop</a:t>
            </a:r>
          </a:p>
        </p:txBody>
      </p:sp>
    </p:spTree>
    <p:extLst>
      <p:ext uri="{BB962C8B-B14F-4D97-AF65-F5344CB8AC3E}">
        <p14:creationId xmlns:p14="http://schemas.microsoft.com/office/powerpoint/2010/main" val="20438899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B1ACF1-16E0-4125-B919-32CE4A03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6D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6D77"/>
                </a:solidFill>
                <a:latin typeface="Aptos"/>
                <a:ea typeface="Aptos"/>
                <a:cs typeface="Aptos"/>
              </a:rPr>
              <a:t>STEP7_REQUEST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84CE80-09DF-4D5E-A49A-D43A55E9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7620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rPr>
              <a:t>Send the GeoJSON to a backend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A3BAD-B979-4950-9304-B2E1EE48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HTTP POST is the handoff from workshop device to web service.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EE488-82B0-4EA4-90C1-8E2745F1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DDC35-2765-45BB-BDBD-6ECB0218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58864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0B1F22"/>
          </a:solidFill>
          <a:ln xmlns:a="http://schemas.openxmlformats.org/drawingml/2006/main" w="0">
            <a:solidFill>
              <a:srgbClr val="0B1F2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C3946E-498B-4EB6-AF66-2BBAB5A5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55435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const char* BACKEND_URL =</a:t>
            </a:r>
          </a:p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  "http://192.168.0.100:8000/measurements";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FFF7"/>
                </a:solidFill>
                <a:latin typeface="Cascadia Mono"/>
                <a:ea typeface="Cascadia Mono"/>
                <a:cs typeface="Cascadia Mono"/>
              </a:rPr>
              <a:t>Content-Type: application/geo+json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0764F3-FB6C-4302-8F1A-EC88239C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solidFill>
              <a:srgbClr val="2EC4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740702-2FA7-475B-871B-52E8DD0F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0505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Do not use localhost on the XIAO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22D66-053F-4F2C-B988-2186299C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38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solidFill>
              <a:srgbClr val="2EC4B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F304E1-EE5D-429E-940E-FB1E25B8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6225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Use the laptop IP on the same Wi-Fi network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CC8834-C2B6-46E8-9408-61D50F81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95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solidFill>
              <a:srgbClr val="2EC4B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DA366C-6F32-48F2-892E-0974624F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1945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Docker backend must publish 8000:8000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2F875C-A530-4891-9BE2-0421C819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52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solidFill>
              <a:srgbClr val="2EC4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43F87A-8CED-4238-A22F-E536CA53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7665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Backend should listen on 0.0.0.0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D0BFB0-C69C-454B-8B45-85C2DFEC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514850"/>
            <a:ext cx="1466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6F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6610FB-4F5A-4EF7-BBC3-8D620CAB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63867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GeoJSON</a:t>
            </a:r>
          </a:p>
          <a:p xmlns:a="http://schemas.openxmlformats.org/drawingml/2006/main">
            <a:pPr algn="ctr">
              <a:defRPr sz="12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body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9CF6E1-0A53-4A90-B291-3892F64B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14850"/>
            <a:ext cx="1466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D7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FA678B-C6AF-4BE0-8F99-EDDDB974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63867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HTTP</a:t>
            </a:r>
          </a:p>
          <a:p xmlns:a="http://schemas.openxmlformats.org/drawingml/2006/main">
            <a:pPr algn="ctr">
              <a:defRPr sz="12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D396CC-EBB1-456B-B354-486A31F6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1714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A7D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3C4F50-9197-48B1-8673-959893D3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3867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Backend</a:t>
            </a:r>
          </a:p>
          <a:p xmlns:a="http://schemas.openxmlformats.org/drawingml/2006/main">
            <a:pPr algn="ctr">
              <a:defRPr sz="12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/measurements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140CB3-26D0-4239-B85B-C533F1EB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196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6D7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87F855-3EDF-459E-9805-BAB724E9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7625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6D77"/>
          </a:solidFill>
          <a:ln xmlns:a="http://schemas.openxmlformats.org/drawingml/2006/main" w="0">
            <a:solidFill>
              <a:srgbClr val="006D7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574BED-DE43-43A2-9BF3-43FBDB37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8196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6D7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1E1A24-47D1-44F9-B08C-C2E6FE69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625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6D77"/>
          </a:solidFill>
          <a:ln xmlns:a="http://schemas.openxmlformats.org/drawingml/2006/main" w="0">
            <a:solidFill>
              <a:srgbClr val="006D7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9F1685-427E-4DF6-AEBF-A1C25DF2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iot-xiao-cursus / Step7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E13598-B452-4909-B9BF-C77DB5B9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579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FOSS4G workshop</a:t>
            </a:r>
          </a:p>
        </p:txBody>
      </p:sp>
    </p:spTree>
    <p:extLst>
      <p:ext uri="{BB962C8B-B14F-4D97-AF65-F5344CB8AC3E}">
        <p14:creationId xmlns:p14="http://schemas.microsoft.com/office/powerpoint/2010/main" val="12784389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91B3A5-3049-4DF9-B401-B0FA960D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6D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6D77"/>
                </a:solidFill>
                <a:latin typeface="Aptos"/>
                <a:ea typeface="Aptos"/>
                <a:cs typeface="Aptos"/>
              </a:rPr>
              <a:t>DEBUGGING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05F7E-2E4F-43A1-86F1-7F2C716D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7620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rPr>
              <a:t>Use the Serial Monitor as a layered health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6F991-71D1-48E7-A268-E5EA27AD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Each step introduces one new failure surface and one new diagnostic signal.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61295-51E7-470C-BC0C-E1330857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39D81-D75B-4A1B-86DB-FD24E11A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1257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7F4"/>
          </a:solidFill>
          <a:ln xmlns:a="http://schemas.openxmlformats.org/drawingml/2006/main" w="0">
            <a:solidFill>
              <a:srgbClr val="E7F7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CAEB89-A2CE-4A57-8835-5B95A666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6D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6D77"/>
                </a:solidFill>
                <a:latin typeface="Aptos"/>
                <a:ea typeface="Aptos"/>
                <a:cs typeface="Aptos"/>
              </a:rPr>
              <a:t>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498A24-81D2-465A-9101-98156E95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717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Selected XIAO_ESP32C3, correct COM port, upload succeeds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4E4DA2-F26F-446C-A268-4E499F17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990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8C6F31-766E-40A5-9AC2-EAF41B5F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1257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solidFill>
              <a:srgbClr val="FFF4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9A4D12-7D4C-42CD-97F6-DEC21936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A52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5200"/>
                </a:solidFill>
                <a:latin typeface="Aptos"/>
                <a:ea typeface="Aptos"/>
                <a:cs typeface="Aptos"/>
              </a:rPr>
              <a:t>Serial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1A5619-C38A-4AF4-B167-08BFFADC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432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115200 baud, MAC address prints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D781FD-806C-4A48-BDCB-D2EB0843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990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60D048-2980-4D6B-ACD2-C8917A75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1257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7F4"/>
          </a:solidFill>
          <a:ln xmlns:a="http://schemas.openxmlformats.org/drawingml/2006/main" w="0">
            <a:solidFill>
              <a:srgbClr val="E7F7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E4081D-E75B-4A75-99FD-8691E81B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6D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6D77"/>
                </a:solidFill>
                <a:latin typeface="Aptos"/>
                <a:ea typeface="Aptos"/>
                <a:cs typeface="Aptos"/>
              </a:rPr>
              <a:t>Sensor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70E31F-47AF-4E57-A752-327BEF1A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147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Value is not null; wiring and library match the active header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FC2BDA-9200-422C-B2B6-10401D7C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990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3BF8A6-C1D3-43C2-BAEC-01F6E272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1257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solidFill>
              <a:srgbClr val="FFF4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E66666-F149-4A06-84CF-9B51E357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A52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5200"/>
                </a:solidFill>
                <a:latin typeface="Aptos"/>
                <a:ea typeface="Aptos"/>
                <a:cs typeface="Aptos"/>
              </a:rPr>
              <a:t>GNSS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568D5A-3DC7-4D8A-9CCC-7BA6EE6F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862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Chars processed increases; Fix becomes yes outdoors or near a window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75F797-E4E2-4CE5-A997-E659E597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990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A59345-AA27-4D48-A7FF-D3986A7E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9600"/>
            <a:ext cx="1257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7F4"/>
          </a:solidFill>
          <a:ln xmlns:a="http://schemas.openxmlformats.org/drawingml/2006/main" w="0">
            <a:solidFill>
              <a:srgbClr val="E7F7F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B7FAF2-6737-4CC8-B310-B8AF0376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6D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6D77"/>
                </a:solidFill>
                <a:latin typeface="Aptos"/>
                <a:ea typeface="Aptos"/>
                <a:cs typeface="Aptos"/>
              </a:rPr>
              <a:t>Wi-Fi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9D9C70-C5FD-4D90-B25F-567D0C00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577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SSID found, IP assigned, RSSI reasonable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8CEEC2-0CDD-406A-82AE-DDC0294D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990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1108FC-D653-4715-BE27-D1A5AA8E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91100"/>
            <a:ext cx="1257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solidFill>
              <a:srgbClr val="FFF4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E7C8B6-3D14-4819-AD01-091A4848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A52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5200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379C5B-7D83-4D06-8635-E0633380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292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POST target uses laptop IP, Docker port is published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6474BF-B755-4EEC-8EC0-7383C902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990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BB1D37-FAC8-4DDC-94BC-EFF6CA7B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iot-xiao-cursus / debug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AF4C54-C08D-47B1-B7AA-B76C7AA1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579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FOSS4G workshop</a:t>
            </a:r>
          </a:p>
        </p:txBody>
      </p:sp>
    </p:spTree>
    <p:extLst>
      <p:ext uri="{BB962C8B-B14F-4D97-AF65-F5344CB8AC3E}">
        <p14:creationId xmlns:p14="http://schemas.microsoft.com/office/powerpoint/2010/main" val="1901579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DC5849-5C10-4FC0-B3C1-EFC42FEE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6D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6D77"/>
                </a:solidFill>
                <a:latin typeface="Aptos"/>
                <a:ea typeface="Aptos"/>
                <a:cs typeface="Aptos"/>
              </a:rPr>
              <a:t>WHY THIS BELONGS AT FOSS4G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E23B2-CF34-490D-AED2-14168019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7620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rPr>
              <a:t>Small hardware, open standards, visible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E50C0-C672-4B04-BBAA-3597C8FB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The workshop makes geospatial interoperability tangible at table scale.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B4BDC2-DDA5-4E2E-B44F-970B7C15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9D5A9-9902-4B83-9D19-6A0C84DF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952750" cy="1466850"/>
          </a:xfrm>
          <a:prstGeom xmlns:a="http://schemas.openxmlformats.org/drawingml/2006/main" prst="roundRect">
            <a:avLst>
              <a:gd name="adj" fmla="val 6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D2383-3C59-46F2-97EC-CE7314F5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EEDFC-34D9-4EA6-9FA5-7337E6B9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574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Open formats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04552D-DDB8-465F-9C94-227D9B0E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552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GeoJSON makes the measurement inspectable and easy to pass between tools.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99E4B5-25BE-461E-B816-C5A6FAF8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66950"/>
            <a:ext cx="2952750" cy="1466850"/>
          </a:xfrm>
          <a:prstGeom xmlns:a="http://schemas.openxmlformats.org/drawingml/2006/main" prst="roundRect">
            <a:avLst>
              <a:gd name="adj" fmla="val 6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E2A43-5A18-4CD2-ADD4-923DAE69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6695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D44"/>
          </a:solidFill>
          <a:ln xmlns:a="http://schemas.openxmlformats.org/drawingml/2006/main" w="0">
            <a:solidFill>
              <a:srgbClr val="3A7D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AD6410-B827-4B61-AA43-4335C43D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574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Real coordinates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FC8BFD-2481-4E51-B98C-B14E864C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19400"/>
            <a:ext cx="2552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GNSS outputs WGS 84 positions and introduces the longitude/latitude convention.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36CC6B-DF53-4457-861A-AA3FECC3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2952750" cy="1466850"/>
          </a:xfrm>
          <a:prstGeom xmlns:a="http://schemas.openxmlformats.org/drawingml/2006/main" prst="roundRect">
            <a:avLst>
              <a:gd name="adj" fmla="val 6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5E0BC-BA16-4F73-949E-0EB68759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77"/>
          </a:solidFill>
          <a:ln xmlns:a="http://schemas.openxmlformats.org/drawingml/2006/main" w="0">
            <a:solidFill>
              <a:srgbClr val="006D7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964750-C3D4-4DF8-B871-090978C7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574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Web-native delivery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A63A57-4BD6-4393-9535-718E0074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19400"/>
            <a:ext cx="2552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HTTP POST connects field observations to ordinary web backends and APIs.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94327A-4FEF-4C75-9BA0-0173FEC5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229100"/>
            <a:ext cx="792480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FC5517-50C5-48E6-BD8E-A3FB358B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229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 w="0">
            <a:solidFill>
              <a:srgbClr val="FFB70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44288-2551-4B62-8E13-1D2232D3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41960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Teaching standards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29DC4B-8121-43E1-8D00-41AC9867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781550"/>
            <a:ext cx="752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Participants can see why SensorThings-style thinking separates Things, Sensors, Observed Properties, and Locations.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60F7F2-0971-4348-9F37-9C423174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iot-xiao-cursus / FOSS4G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9382A4-52BE-4825-B503-F4D3481F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579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FOSS4G workshop</a:t>
            </a:r>
          </a:p>
        </p:txBody>
      </p:sp>
    </p:spTree>
    <p:extLst>
      <p:ext uri="{BB962C8B-B14F-4D97-AF65-F5344CB8AC3E}">
        <p14:creationId xmlns:p14="http://schemas.microsoft.com/office/powerpoint/2010/main" val="8510220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28A452-E7C1-49D9-8D6E-DB41F13C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6D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6D77"/>
                </a:solidFill>
                <a:latin typeface="Aptos"/>
                <a:ea typeface="Aptos"/>
                <a:cs typeface="Aptos"/>
              </a:rPr>
              <a:t>FACILITATION TIMING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F8B19-950E-455C-9806-E4BCCA0A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7620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rPr>
              <a:t>A practical rhythm for a live session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2A312-3C7C-4E89-B61B-89562563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Keep each step observable before moving to the next capability.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F8FF1C-E9A7-41D6-9A27-AC5D5886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3996E-FA67-40A4-AAAF-69663CD7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23241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A8F16-A53B-4F98-8EC0-7414481C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77"/>
          </a:solidFill>
          <a:ln xmlns:a="http://schemas.openxmlformats.org/drawingml/2006/main" w="0">
            <a:solidFill>
              <a:srgbClr val="006D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021D4-523D-4051-AD57-2CE67708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Step1  20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20201A-E93B-4DC9-B722-CD36CAC2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IDE, board, first upload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FE24B-F95D-4BA3-A805-D6CE71D0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28850"/>
            <a:ext cx="23241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114304-EDE8-4D92-A9F0-7F8B51C8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288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solidFill>
              <a:srgbClr val="2EC4B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85B465-C546-4DB4-A2D9-07F4CE70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193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Step2  10 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EDB934-ED54-488A-A8A0-A0709DF7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813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Serial Monitor + MAC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47D2DB-8ED8-4275-9272-F7E6928E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28850"/>
            <a:ext cx="23241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E9437C-158C-40FF-9086-395EF086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288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 w="0">
            <a:solidFill>
              <a:srgbClr val="FFB70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EFE6A3-734A-439A-BD06-20352B7D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193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Step3  25 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F9929F-6114-4680-9541-97CE79D7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813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sensor wiring and values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F7B799-FDCF-466D-A637-3D12E6B2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28850"/>
            <a:ext cx="23241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C89EF5-0707-4597-8D82-D9E35A56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288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D44"/>
          </a:solidFill>
          <a:ln xmlns:a="http://schemas.openxmlformats.org/drawingml/2006/main" w="0">
            <a:solidFill>
              <a:srgbClr val="3A7D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19590F-4E3A-4B2D-82CE-9DE582C9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193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Step4  25 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1845A4-8438-4279-9352-C1FFE857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813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GNSS and valid fix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3364F2-A861-4436-A61E-8F831E2D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23241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69ED55-03FE-477A-B0E4-780667EC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97A"/>
          </a:solidFill>
          <a:ln xmlns:a="http://schemas.openxmlformats.org/drawingml/2006/main" w="0">
            <a:solidFill>
              <a:srgbClr val="6D597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805AEA-C045-4DDD-A997-D9BB0B10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Step5  15 min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779BA4-A7C6-4B40-9520-DF082B0A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Wi-Fi diagnostics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A8BE6B-EA91-451C-8EA5-435010C0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52850"/>
            <a:ext cx="23241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F10DF9-C6DB-400C-8810-B7AB8563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528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EB7E38-9706-4D41-8AFB-88FE6825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9433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Step6  20 min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FF01B6-AF19-4BC5-9652-1CC393CB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053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GeoJSON Feature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04A383-B2F8-4654-9EBE-D80B3B34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52850"/>
            <a:ext cx="23241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0AFE6A-DDE4-4CA1-B4C8-E465136B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528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77"/>
          </a:solidFill>
          <a:ln xmlns:a="http://schemas.openxmlformats.org/drawingml/2006/main" w="0">
            <a:solidFill>
              <a:srgbClr val="006D7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546E4D-5569-42E7-897B-C1EF7396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433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Step7  20 min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A652B6-F51F-4278-BE81-CDC84751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053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POST to backend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95F9CF-A695-47D8-BFC6-D1CE8714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674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Reserve extra time for USB cables, serial ports, and first GNSS fixes.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A0AC94-1AE8-4F2E-8CF0-68ADC1E5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iot-xiao-cursus / facilitation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BAA93F-6EAB-4985-982C-877BF82D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579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FOSS4G workshop</a:t>
            </a:r>
          </a:p>
        </p:txBody>
      </p:sp>
    </p:spTree>
    <p:extLst>
      <p:ext uri="{BB962C8B-B14F-4D97-AF65-F5344CB8AC3E}">
        <p14:creationId xmlns:p14="http://schemas.microsoft.com/office/powerpoint/2010/main" val="11429606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14B21E-D87A-4CD9-98FE-A8985348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6D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6D77"/>
                </a:solidFill>
                <a:latin typeface="Aptos"/>
                <a:ea typeface="Aptos"/>
                <a:cs typeface="Aptos"/>
              </a:rPr>
              <a:t>REPO MAP AND 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3D2B6-A3DA-450F-8D16-8D0D8BB8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7620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rPr>
              <a:t>Use the deck alongside the repository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994BE-0C37-4B9D-8001-88FD6CB1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Slide titles intentionally mirror the current folder names.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056E0-E9E2-4956-839F-8FBF3F5D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BB763-C4E5-4F05-B89A-1C0A8E24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solidFill>
              <a:srgbClr val="2EC4B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8BDF5D-A49D-42D1-8786-B69018F8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14550"/>
            <a:ext cx="701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Step1_Setup: board, IDE, programming, Blink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39524D-57E3-4DCB-ACE0-D074AB68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solidFill>
              <a:srgbClr val="2EC4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9F46E0-EA27-4B58-AFFF-F613B604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14600"/>
            <a:ext cx="701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Step2_Log: Serial Monitor and MAC address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832B48-FBCD-4539-9079-CED83FF0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solidFill>
              <a:srgbClr val="2EC4B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5A0BEC-8267-4195-AACF-A22E1686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14650"/>
            <a:ext cx="701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Step3_Sensor: wiring and sensor values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6368EE-A76C-4FB1-ADA2-A464EE8E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solidFill>
              <a:srgbClr val="2EC4B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BCACEC-35EC-4DD4-8DE5-2D84EF82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14700"/>
            <a:ext cx="701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Step4_GNSS: WGS 84 coordinates and fix 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126249-A2E2-4518-8F98-480F723C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solidFill>
              <a:srgbClr val="2EC4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7EB9E1-4FA8-4576-867D-861CEE46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14750"/>
            <a:ext cx="701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Step5_WiFi: credentials, network status, RSSI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03789B-2D7E-425A-A469-246DEFEB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solidFill>
              <a:srgbClr val="2EC4B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5C0C66-F84A-4F35-B217-4C8F642C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14800"/>
            <a:ext cx="701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Step6_GeoJSON: GeoJSON Feature builder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B1C700-0FB9-45F5-8658-0037737E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91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solidFill>
              <a:srgbClr val="2EC4B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ECDD56-085D-430E-B01A-0844AF31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14850"/>
            <a:ext cx="701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Step7_request: HTTP POST body and backend URL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285FF8-398E-405A-B785-983AE01F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2857500" cy="17145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E7FD84-7F9D-4277-B4E1-102351A8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77"/>
          </a:solidFill>
          <a:ln xmlns:a="http://schemas.openxmlformats.org/drawingml/2006/main" w="0">
            <a:solidFill>
              <a:srgbClr val="006D7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350369-9636-428A-867A-4C4AAC36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8125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Primary sources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31FC3E-E879-4A88-841C-E7A6402C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43200"/>
            <a:ext cx="24574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Local repository README files, current Step folders, sketches, helpers, and components list. No external visual assets used.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652FCE-2527-4BF5-96A0-0F1E07DA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43400"/>
            <a:ext cx="2857500" cy="135255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33D731-F0D4-4C91-9178-C849F2D4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434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 w="0">
            <a:solidFill>
              <a:srgbClr val="FFB70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A95AC3-97B9-4554-8CA2-6E0BE851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339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Presenter note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6F3E1B-1485-4E78-95C7-A6C5C9AC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95850"/>
            <a:ext cx="2457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Use this deck as the narrative spine. Use the repo for live uploads, serial output, and hands-on fixes.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A104DB-B778-48A4-99C6-4B81ABC6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iot-xiao-cursus / sources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77C810-144E-4E25-9625-FAB053EA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579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FOSS4G workshop</a:t>
            </a:r>
          </a:p>
        </p:txBody>
      </p:sp>
    </p:spTree>
    <p:extLst>
      <p:ext uri="{BB962C8B-B14F-4D97-AF65-F5344CB8AC3E}">
        <p14:creationId xmlns:p14="http://schemas.microsoft.com/office/powerpoint/2010/main" val="42176488"/>
      </p:ext>
    </p:extLst>
  </p:cSld>
</p:sld>
</file>

<file path=ppt/theme/theme1.xml><?xml version="1.0" encoding="utf-8"?>
<a:theme xmlns:a="http://schemas.openxmlformats.org/drawingml/2006/main" name="ChatGPT">
  <a:themeElements>
    <a:clrScheme name="FOSS4G IoT Workshop">
      <a:dk1>
        <a:srgbClr val="000000"/>
      </a:dk1>
      <a:lt1>
        <a:srgbClr val="FFFFFF"/>
      </a:lt1>
      <a:dk2>
        <a:srgbClr val="073B3A"/>
      </a:dk2>
      <a:lt2>
        <a:srgbClr val="EAF1F4"/>
      </a:lt2>
      <a:accent1>
        <a:srgbClr val="006D77"/>
      </a:accent1>
      <a:accent2>
        <a:srgbClr val="2EC4B6"/>
      </a:accent2>
      <a:accent3>
        <a:srgbClr val="FFB703"/>
      </a:accent3>
      <a:accent4>
        <a:srgbClr val="E76F51"/>
      </a:accent4>
      <a:accent5>
        <a:srgbClr val="3A7D44"/>
      </a:accent5>
      <a:accent6>
        <a:srgbClr val="6D597A"/>
      </a:accent6>
      <a:hlink>
        <a:srgbClr val="006D77"/>
      </a:hlink>
      <a:folHlink>
        <a:srgbClr val="6D597A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OSS4G IoT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2026-06-15T13:08:18.9020000Z</dcterms:created>
  <dcterms:modified xsi:type="dcterms:W3CDTF">2026-06-15T13:08:18.9020000Z</dcterms:modified>
</coreProperties>
</file>